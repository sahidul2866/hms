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95" r:id="rId2"/>
    <p:sldId id="262" r:id="rId3"/>
    <p:sldId id="267" r:id="rId4"/>
    <p:sldId id="356" r:id="rId5"/>
    <p:sldId id="297" r:id="rId6"/>
    <p:sldId id="298" r:id="rId7"/>
    <p:sldId id="353" r:id="rId8"/>
    <p:sldId id="354" r:id="rId9"/>
    <p:sldId id="355" r:id="rId10"/>
    <p:sldId id="357" r:id="rId11"/>
    <p:sldId id="334" r:id="rId12"/>
    <p:sldId id="272" r:id="rId13"/>
    <p:sldId id="319" r:id="rId14"/>
    <p:sldId id="280" r:id="rId15"/>
    <p:sldId id="332" r:id="rId16"/>
    <p:sldId id="275" r:id="rId17"/>
    <p:sldId id="277" r:id="rId18"/>
    <p:sldId id="278" r:id="rId19"/>
    <p:sldId id="283" r:id="rId20"/>
    <p:sldId id="261" r:id="rId21"/>
  </p:sldIdLst>
  <p:sldSz cx="9144000" cy="6858000" type="screen4x3"/>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69" autoAdjust="0"/>
    <p:restoredTop sz="94660" autoAdjust="0"/>
  </p:normalViewPr>
  <p:slideViewPr>
    <p:cSldViewPr snapToGrid="0">
      <p:cViewPr>
        <p:scale>
          <a:sx n="125" d="100"/>
          <a:sy n="125" d="100"/>
        </p:scale>
        <p:origin x="-72" y="-60"/>
      </p:cViewPr>
      <p:guideLst>
        <p:guide orient="horz" pos="2162"/>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167998" y="0"/>
            <a:ext cx="3188595" cy="574719"/>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2022/5/10</a:t>
            </a:fld>
            <a:endParaRPr lang="zh-CN" altLang="en-US"/>
          </a:p>
        </p:txBody>
      </p:sp>
      <p:sp>
        <p:nvSpPr>
          <p:cNvPr id="4" name="幻灯片图像占位符 3"/>
          <p:cNvSpPr>
            <a:spLocks noGrp="1" noRot="1" noChangeAspect="1"/>
          </p:cNvSpPr>
          <p:nvPr>
            <p:ph type="sldImg" idx="2"/>
          </p:nvPr>
        </p:nvSpPr>
        <p:spPr>
          <a:xfrm>
            <a:off x="242770" y="1431824"/>
            <a:ext cx="6872756" cy="38659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35830" y="5512523"/>
            <a:ext cx="5886637" cy="4510246"/>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10879875"/>
            <a:ext cx="3188595" cy="57471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167998" y="10879875"/>
            <a:ext cx="3188595" cy="57471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2022/5/10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2022/5/10</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5" name="文本框 4"/>
          <p:cNvSpPr txBox="1"/>
          <p:nvPr/>
        </p:nvSpPr>
        <p:spPr>
          <a:xfrm>
            <a:off x="1719219" y="2740290"/>
            <a:ext cx="5706745" cy="768350"/>
          </a:xfrm>
          <a:prstGeom prst="rect">
            <a:avLst/>
          </a:prstGeom>
          <a:noFill/>
        </p:spPr>
        <p:txBody>
          <a:bodyPr wrap="none" rtlCol="0">
            <a:spAutoFit/>
          </a:bodyPr>
          <a:lstStyle/>
          <a:p>
            <a:pPr algn="l"/>
            <a:r>
              <a:rPr lang="en-US" altLang="zh-CN" sz="4400" smtClean="0">
                <a:solidFill>
                  <a:schemeClr val="bg1"/>
                </a:solidFill>
                <a:latin typeface="Times New Roman" panose="02020603050405020304" charset="0"/>
                <a:ea typeface="Microsoft YaHei" panose="020B0503020204020204" charset="-122"/>
                <a:cs typeface="Times New Roman" panose="02020603050405020304" charset="0"/>
              </a:rPr>
              <a:t>iFlahs  </a:t>
            </a:r>
            <a:r>
              <a:rPr lang="en-US" altLang="zh-CN" sz="4400" dirty="0" err="1" smtClean="0">
                <a:solidFill>
                  <a:schemeClr val="bg1"/>
                </a:solidFill>
                <a:latin typeface="Times New Roman" panose="02020603050405020304" charset="0"/>
                <a:ea typeface="Microsoft YaHei" panose="020B0503020204020204" charset="-122"/>
                <a:cs typeface="Times New Roman" panose="02020603050405020304" charset="0"/>
              </a:rPr>
              <a:t>LIS </a:t>
            </a:r>
            <a:r>
              <a:rPr lang="zh-CN" altLang="en-US" sz="4400" dirty="0" smtClean="0">
                <a:solidFill>
                  <a:schemeClr val="bg1"/>
                </a:solidFill>
                <a:latin typeface="Times New Roman" panose="02020603050405020304" charset="0"/>
                <a:ea typeface="Microsoft YaHei" panose="020B0503020204020204" charset="-122"/>
                <a:cs typeface="Times New Roman" panose="02020603050405020304" charset="0"/>
              </a:rPr>
              <a:t> Introduction</a:t>
            </a:r>
          </a:p>
        </p:txBody>
      </p:sp>
      <p:pic>
        <p:nvPicPr>
          <p:cNvPr id="4" name="图片 3" descr="LOGO 白色"/>
          <p:cNvPicPr>
            <a:picLocks noChangeAspect="1"/>
          </p:cNvPicPr>
          <p:nvPr/>
        </p:nvPicPr>
        <p:blipFill>
          <a:blip r:embed="rId3" cstate="print"/>
          <a:stretch>
            <a:fillRect/>
          </a:stretch>
        </p:blipFill>
        <p:spPr>
          <a:xfrm>
            <a:off x="6259830" y="6095365"/>
            <a:ext cx="2384425" cy="31432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grpSp>
        <p:nvGrpSpPr>
          <p:cNvPr id="21" name="Group 5"/>
          <p:cNvGrpSpPr/>
          <p:nvPr/>
        </p:nvGrpSpPr>
        <p:grpSpPr bwMode="auto">
          <a:xfrm>
            <a:off x="1892870" y="1627305"/>
            <a:ext cx="609600" cy="609600"/>
            <a:chOff x="1268" y="1296"/>
            <a:chExt cx="384" cy="384"/>
          </a:xfrm>
        </p:grpSpPr>
        <p:sp>
          <p:nvSpPr>
            <p:cNvPr id="22" name="Oval 6"/>
            <p:cNvSpPr>
              <a:spLocks noChangeArrowheads="1"/>
            </p:cNvSpPr>
            <p:nvPr/>
          </p:nvSpPr>
          <p:spPr bwMode="gray">
            <a:xfrm>
              <a:off x="1268" y="1296"/>
              <a:ext cx="384" cy="384"/>
            </a:xfrm>
            <a:prstGeom prst="ellipse">
              <a:avLst/>
            </a:prstGeom>
            <a:gradFill rotWithShape="1">
              <a:gsLst>
                <a:gs pos="0">
                  <a:srgbClr val="FFFFFF"/>
                </a:gs>
                <a:gs pos="50000">
                  <a:srgbClr val="00CC66"/>
                </a:gs>
                <a:gs pos="100000">
                  <a:srgbClr val="FFFFFF"/>
                </a:gs>
              </a:gsLst>
              <a:lin ang="2700000" scaled="1"/>
            </a:gradFill>
            <a:ln w="38100" algn="ctr">
              <a:noFill/>
              <a:round/>
            </a:ln>
          </p:spPr>
          <p:txBody>
            <a:bodyPr wrap="none"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23" name="Oval 7"/>
            <p:cNvSpPr>
              <a:spLocks noChangeArrowheads="1"/>
            </p:cNvSpPr>
            <p:nvPr/>
          </p:nvSpPr>
          <p:spPr bwMode="gray">
            <a:xfrm>
              <a:off x="1268" y="1296"/>
              <a:ext cx="384" cy="384"/>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24" name="Oval 8"/>
            <p:cNvSpPr>
              <a:spLocks noChangeArrowheads="1"/>
            </p:cNvSpPr>
            <p:nvPr/>
          </p:nvSpPr>
          <p:spPr bwMode="gray">
            <a:xfrm>
              <a:off x="1293" y="1321"/>
              <a:ext cx="334" cy="33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25" name="Oval 9"/>
            <p:cNvSpPr>
              <a:spLocks noChangeArrowheads="1"/>
            </p:cNvSpPr>
            <p:nvPr/>
          </p:nvSpPr>
          <p:spPr bwMode="gray">
            <a:xfrm>
              <a:off x="1293" y="1322"/>
              <a:ext cx="334" cy="33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26" name="Oval 10"/>
            <p:cNvSpPr>
              <a:spLocks noChangeArrowheads="1"/>
            </p:cNvSpPr>
            <p:nvPr/>
          </p:nvSpPr>
          <p:spPr bwMode="gray">
            <a:xfrm>
              <a:off x="1311" y="1338"/>
              <a:ext cx="300" cy="300"/>
            </a:xfrm>
            <a:prstGeom prst="ellipse">
              <a:avLst/>
            </a:prstGeom>
            <a:solidFill>
              <a:srgbClr val="333333"/>
            </a:solidFill>
            <a:ln w="38100" algn="ctr">
              <a:noFill/>
              <a:round/>
            </a:ln>
          </p:spPr>
          <p:txBody>
            <a:bodyPr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27" name="Oval 11"/>
            <p:cNvSpPr>
              <a:spLocks noChangeArrowheads="1"/>
            </p:cNvSpPr>
            <p:nvPr/>
          </p:nvSpPr>
          <p:spPr bwMode="gray">
            <a:xfrm>
              <a:off x="1316" y="1343"/>
              <a:ext cx="291" cy="291"/>
            </a:xfrm>
            <a:prstGeom prst="ellipse">
              <a:avLst/>
            </a:prstGeom>
            <a:gradFill rotWithShape="1">
              <a:gsLst>
                <a:gs pos="0">
                  <a:srgbClr val="595959"/>
                </a:gs>
                <a:gs pos="100000">
                  <a:srgbClr val="C0C0C0"/>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28" name="Oval 12"/>
            <p:cNvSpPr>
              <a:spLocks noChangeArrowheads="1"/>
            </p:cNvSpPr>
            <p:nvPr/>
          </p:nvSpPr>
          <p:spPr bwMode="gray">
            <a:xfrm>
              <a:off x="1320" y="1345"/>
              <a:ext cx="283" cy="283"/>
            </a:xfrm>
            <a:prstGeom prst="ellipse">
              <a:avLst/>
            </a:prstGeom>
            <a:gradFill rotWithShape="1">
              <a:gsLst>
                <a:gs pos="0">
                  <a:srgbClr val="C0C0C0">
                    <a:alpha val="0"/>
                  </a:srgbClr>
                </a:gs>
                <a:gs pos="100000">
                  <a:srgbClr val="E9E9E9"/>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29" name="Oval 13"/>
            <p:cNvSpPr>
              <a:spLocks noChangeArrowheads="1"/>
            </p:cNvSpPr>
            <p:nvPr/>
          </p:nvSpPr>
          <p:spPr bwMode="gray">
            <a:xfrm>
              <a:off x="1323" y="1347"/>
              <a:ext cx="270" cy="265"/>
            </a:xfrm>
            <a:prstGeom prst="ellipse">
              <a:avLst/>
            </a:prstGeom>
            <a:gradFill rotWithShape="1">
              <a:gsLst>
                <a:gs pos="0">
                  <a:srgbClr val="989898"/>
                </a:gs>
                <a:gs pos="100000">
                  <a:srgbClr val="C0C0C0">
                    <a:alpha val="48000"/>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30" name="Oval 14"/>
            <p:cNvSpPr>
              <a:spLocks noChangeArrowheads="1"/>
            </p:cNvSpPr>
            <p:nvPr/>
          </p:nvSpPr>
          <p:spPr bwMode="gray">
            <a:xfrm>
              <a:off x="1338" y="1355"/>
              <a:ext cx="240" cy="215"/>
            </a:xfrm>
            <a:prstGeom prst="ellipse">
              <a:avLst/>
            </a:prstGeom>
            <a:gradFill rotWithShape="1">
              <a:gsLst>
                <a:gs pos="0">
                  <a:srgbClr val="FFFFFF"/>
                </a:gs>
                <a:gs pos="100000">
                  <a:srgbClr val="C0C0C0">
                    <a:alpha val="37999"/>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31" name="Text Box 15"/>
            <p:cNvSpPr txBox="1">
              <a:spLocks noChangeArrowheads="1"/>
            </p:cNvSpPr>
            <p:nvPr/>
          </p:nvSpPr>
          <p:spPr bwMode="gray">
            <a:xfrm>
              <a:off x="1344" y="1373"/>
              <a:ext cx="223" cy="233"/>
            </a:xfrm>
            <a:prstGeom prst="rect">
              <a:avLst/>
            </a:prstGeom>
            <a:noFill/>
            <a:ln w="9525" algn="ctr">
              <a:noFill/>
              <a:miter lim="800000"/>
            </a:ln>
          </p:spPr>
          <p:txBody>
            <a:bodyPr wrap="square">
              <a:spAutoFit/>
            </a:bodyPr>
            <a:lstStyle/>
            <a:p>
              <a:pPr algn="ctr" eaLnBrk="0" hangingPunct="0">
                <a:spcBef>
                  <a:spcPct val="0"/>
                </a:spcBef>
                <a:buFontTx/>
                <a:buNone/>
              </a:pPr>
              <a:r>
                <a:rPr lang="en-US" altLang="zh-CN" dirty="0">
                  <a:solidFill>
                    <a:srgbClr val="000000"/>
                  </a:solidFill>
                  <a:latin typeface="Arial" panose="020B0604020202020204" pitchFamily="34" charset="0"/>
                  <a:ea typeface="SimSun" panose="02010600030101010101" pitchFamily="2" charset="-122"/>
                </a:rPr>
                <a:t>1</a:t>
              </a:r>
            </a:p>
          </p:txBody>
        </p:sp>
      </p:grpSp>
      <p:sp>
        <p:nvSpPr>
          <p:cNvPr id="32" name="Line 3"/>
          <p:cNvSpPr>
            <a:spLocks noChangeShapeType="1"/>
          </p:cNvSpPr>
          <p:nvPr/>
        </p:nvSpPr>
        <p:spPr bwMode="auto">
          <a:xfrm>
            <a:off x="3030434" y="2213022"/>
            <a:ext cx="4155744" cy="6824"/>
          </a:xfrm>
          <a:prstGeom prst="line">
            <a:avLst/>
          </a:prstGeom>
          <a:noFill/>
          <a:ln w="22225">
            <a:solidFill>
              <a:schemeClr val="accent1"/>
            </a:solidFill>
            <a:prstDash val="sysDot"/>
            <a:round/>
            <a:tailEnd type="oval" w="med" len="med"/>
          </a:ln>
        </p:spPr>
        <p:txBody>
          <a:bodyPr wrap="none" anchor="ctr"/>
          <a:lstStyle/>
          <a:p>
            <a:endParaRPr lang="zh-CN" altLang="en-US"/>
          </a:p>
        </p:txBody>
      </p:sp>
      <p:sp>
        <p:nvSpPr>
          <p:cNvPr id="33" name="Text Box 4"/>
          <p:cNvSpPr txBox="1">
            <a:spLocks noChangeArrowheads="1"/>
          </p:cNvSpPr>
          <p:nvPr/>
        </p:nvSpPr>
        <p:spPr bwMode="auto">
          <a:xfrm>
            <a:off x="3030434" y="1535430"/>
            <a:ext cx="4051300" cy="798830"/>
          </a:xfrm>
          <a:prstGeom prst="rect">
            <a:avLst/>
          </a:prstGeom>
          <a:noFill/>
          <a:ln w="9525" algn="ctr">
            <a:noFill/>
            <a:miter lim="800000"/>
          </a:ln>
        </p:spPr>
        <p:txBody>
          <a:bodyPr wrap="square">
            <a:spAutoFit/>
          </a:bodyPr>
          <a:lstStyle/>
          <a:p>
            <a:pPr algn="l" eaLnBrk="0" hangingPunct="0">
              <a:spcBef>
                <a:spcPct val="0"/>
              </a:spcBef>
              <a:buFontTx/>
              <a:buNone/>
            </a:pPr>
            <a:r>
              <a:rPr lang="en-US" altLang="zh-CN" sz="2800" dirty="0" smtClean="0">
                <a:solidFill>
                  <a:schemeClr val="tx2"/>
                </a:solidFill>
                <a:latin typeface="Times New Roman" panose="02020603050405020304" charset="0"/>
                <a:ea typeface="Microsoft YaHei" panose="020B0503020204020204" charset="-122"/>
                <a:cs typeface="Times New Roman" panose="02020603050405020304" charset="0"/>
              </a:rPr>
              <a:t>LIS Introduction</a:t>
            </a:r>
            <a:endParaRPr lang="zh-CN" altLang="en-US" sz="4000" dirty="0">
              <a:solidFill>
                <a:schemeClr val="tx1"/>
              </a:solidFill>
              <a:latin typeface="Times New Roman" panose="02020603050405020304" charset="0"/>
              <a:ea typeface="Microsoft YaHei" panose="020B0503020204020204" charset="-122"/>
              <a:cs typeface="Times New Roman" panose="02020603050405020304" charset="0"/>
            </a:endParaRPr>
          </a:p>
          <a:p>
            <a:pPr algn="l" eaLnBrk="0" hangingPunct="0">
              <a:spcBef>
                <a:spcPct val="0"/>
              </a:spcBef>
              <a:buFontTx/>
              <a:buNone/>
            </a:pPr>
            <a:endParaRPr lang="en-US" altLang="zh-CN" b="0" dirty="0">
              <a:solidFill>
                <a:schemeClr val="tx1"/>
              </a:solidFill>
              <a:latin typeface="Times New Roman" panose="02020603050405020304" charset="0"/>
              <a:ea typeface="SimSun" panose="02010600030101010101" pitchFamily="2" charset="-122"/>
              <a:cs typeface="Times New Roman" panose="02020603050405020304" charset="0"/>
            </a:endParaRPr>
          </a:p>
        </p:txBody>
      </p:sp>
      <p:grpSp>
        <p:nvGrpSpPr>
          <p:cNvPr id="34" name="Group 5"/>
          <p:cNvGrpSpPr/>
          <p:nvPr/>
        </p:nvGrpSpPr>
        <p:grpSpPr bwMode="auto">
          <a:xfrm>
            <a:off x="1895144" y="2543980"/>
            <a:ext cx="609600" cy="609600"/>
            <a:chOff x="1268" y="1296"/>
            <a:chExt cx="384" cy="384"/>
          </a:xfrm>
        </p:grpSpPr>
        <p:sp>
          <p:nvSpPr>
            <p:cNvPr id="35" name="Oval 6"/>
            <p:cNvSpPr>
              <a:spLocks noChangeArrowheads="1"/>
            </p:cNvSpPr>
            <p:nvPr/>
          </p:nvSpPr>
          <p:spPr bwMode="gray">
            <a:xfrm>
              <a:off x="1268" y="1296"/>
              <a:ext cx="384" cy="384"/>
            </a:xfrm>
            <a:prstGeom prst="ellipse">
              <a:avLst/>
            </a:prstGeom>
            <a:gradFill rotWithShape="1">
              <a:gsLst>
                <a:gs pos="0">
                  <a:srgbClr val="FFFFFF"/>
                </a:gs>
                <a:gs pos="50000">
                  <a:srgbClr val="00CC66"/>
                </a:gs>
                <a:gs pos="100000">
                  <a:srgbClr val="FFFFFF"/>
                </a:gs>
              </a:gsLst>
              <a:lin ang="2700000" scaled="1"/>
            </a:gradFill>
            <a:ln w="38100" algn="ctr">
              <a:noFill/>
              <a:round/>
            </a:ln>
          </p:spPr>
          <p:txBody>
            <a:bodyPr wrap="none"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36" name="Oval 7"/>
            <p:cNvSpPr>
              <a:spLocks noChangeArrowheads="1"/>
            </p:cNvSpPr>
            <p:nvPr/>
          </p:nvSpPr>
          <p:spPr bwMode="gray">
            <a:xfrm>
              <a:off x="1268" y="1296"/>
              <a:ext cx="384" cy="384"/>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37" name="Oval 8"/>
            <p:cNvSpPr>
              <a:spLocks noChangeArrowheads="1"/>
            </p:cNvSpPr>
            <p:nvPr/>
          </p:nvSpPr>
          <p:spPr bwMode="gray">
            <a:xfrm>
              <a:off x="1293" y="1321"/>
              <a:ext cx="334" cy="33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38" name="Oval 9"/>
            <p:cNvSpPr>
              <a:spLocks noChangeArrowheads="1"/>
            </p:cNvSpPr>
            <p:nvPr/>
          </p:nvSpPr>
          <p:spPr bwMode="gray">
            <a:xfrm>
              <a:off x="1293" y="1322"/>
              <a:ext cx="334" cy="33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39" name="Oval 10"/>
            <p:cNvSpPr>
              <a:spLocks noChangeArrowheads="1"/>
            </p:cNvSpPr>
            <p:nvPr/>
          </p:nvSpPr>
          <p:spPr bwMode="gray">
            <a:xfrm>
              <a:off x="1311" y="1338"/>
              <a:ext cx="300" cy="300"/>
            </a:xfrm>
            <a:prstGeom prst="ellipse">
              <a:avLst/>
            </a:prstGeom>
            <a:solidFill>
              <a:srgbClr val="333333"/>
            </a:solidFill>
            <a:ln w="38100" algn="ctr">
              <a:noFill/>
              <a:round/>
            </a:ln>
          </p:spPr>
          <p:txBody>
            <a:bodyPr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0" name="Oval 11"/>
            <p:cNvSpPr>
              <a:spLocks noChangeArrowheads="1"/>
            </p:cNvSpPr>
            <p:nvPr/>
          </p:nvSpPr>
          <p:spPr bwMode="gray">
            <a:xfrm>
              <a:off x="1316" y="1343"/>
              <a:ext cx="291" cy="291"/>
            </a:xfrm>
            <a:prstGeom prst="ellipse">
              <a:avLst/>
            </a:prstGeom>
            <a:gradFill rotWithShape="1">
              <a:gsLst>
                <a:gs pos="0">
                  <a:srgbClr val="595959"/>
                </a:gs>
                <a:gs pos="100000">
                  <a:srgbClr val="C0C0C0"/>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1" name="Oval 12"/>
            <p:cNvSpPr>
              <a:spLocks noChangeArrowheads="1"/>
            </p:cNvSpPr>
            <p:nvPr/>
          </p:nvSpPr>
          <p:spPr bwMode="gray">
            <a:xfrm>
              <a:off x="1320" y="1345"/>
              <a:ext cx="283" cy="283"/>
            </a:xfrm>
            <a:prstGeom prst="ellipse">
              <a:avLst/>
            </a:prstGeom>
            <a:gradFill rotWithShape="1">
              <a:gsLst>
                <a:gs pos="0">
                  <a:srgbClr val="C0C0C0">
                    <a:alpha val="0"/>
                  </a:srgbClr>
                </a:gs>
                <a:gs pos="100000">
                  <a:srgbClr val="E9E9E9"/>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2" name="Oval 13"/>
            <p:cNvSpPr>
              <a:spLocks noChangeArrowheads="1"/>
            </p:cNvSpPr>
            <p:nvPr/>
          </p:nvSpPr>
          <p:spPr bwMode="gray">
            <a:xfrm>
              <a:off x="1323" y="1347"/>
              <a:ext cx="270" cy="265"/>
            </a:xfrm>
            <a:prstGeom prst="ellipse">
              <a:avLst/>
            </a:prstGeom>
            <a:gradFill rotWithShape="1">
              <a:gsLst>
                <a:gs pos="0">
                  <a:srgbClr val="989898"/>
                </a:gs>
                <a:gs pos="100000">
                  <a:srgbClr val="C0C0C0">
                    <a:alpha val="48000"/>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3" name="Oval 14"/>
            <p:cNvSpPr>
              <a:spLocks noChangeArrowheads="1"/>
            </p:cNvSpPr>
            <p:nvPr/>
          </p:nvSpPr>
          <p:spPr bwMode="gray">
            <a:xfrm>
              <a:off x="1338" y="1355"/>
              <a:ext cx="240" cy="215"/>
            </a:xfrm>
            <a:prstGeom prst="ellipse">
              <a:avLst/>
            </a:prstGeom>
            <a:gradFill rotWithShape="1">
              <a:gsLst>
                <a:gs pos="0">
                  <a:srgbClr val="FFFFFF"/>
                </a:gs>
                <a:gs pos="100000">
                  <a:srgbClr val="C0C0C0">
                    <a:alpha val="37999"/>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4" name="Text Box 15"/>
            <p:cNvSpPr txBox="1">
              <a:spLocks noChangeArrowheads="1"/>
            </p:cNvSpPr>
            <p:nvPr/>
          </p:nvSpPr>
          <p:spPr bwMode="gray">
            <a:xfrm>
              <a:off x="1344" y="1373"/>
              <a:ext cx="223" cy="233"/>
            </a:xfrm>
            <a:prstGeom prst="rect">
              <a:avLst/>
            </a:prstGeom>
            <a:noFill/>
            <a:ln w="9525" algn="ctr">
              <a:noFill/>
              <a:miter lim="800000"/>
            </a:ln>
          </p:spPr>
          <p:txBody>
            <a:bodyPr wrap="square">
              <a:spAutoFit/>
            </a:bodyPr>
            <a:lstStyle/>
            <a:p>
              <a:pPr algn="ctr" eaLnBrk="0" hangingPunct="0">
                <a:spcBef>
                  <a:spcPct val="0"/>
                </a:spcBef>
                <a:buFontTx/>
                <a:buNone/>
              </a:pPr>
              <a:r>
                <a:rPr lang="en-US" altLang="zh-CN" dirty="0" smtClean="0">
                  <a:solidFill>
                    <a:srgbClr val="000000"/>
                  </a:solidFill>
                  <a:latin typeface="Arial" panose="020B0604020202020204" pitchFamily="34" charset="0"/>
                  <a:ea typeface="SimSun" panose="02010600030101010101" pitchFamily="2" charset="-122"/>
                </a:rPr>
                <a:t>2</a:t>
              </a:r>
              <a:endParaRPr lang="en-US" altLang="zh-CN" dirty="0">
                <a:solidFill>
                  <a:srgbClr val="000000"/>
                </a:solidFill>
                <a:latin typeface="Arial" panose="020B0604020202020204" pitchFamily="34" charset="0"/>
                <a:ea typeface="SimSun" panose="02010600030101010101" pitchFamily="2" charset="-122"/>
              </a:endParaRPr>
            </a:p>
          </p:txBody>
        </p:sp>
      </p:grpSp>
      <p:sp>
        <p:nvSpPr>
          <p:cNvPr id="45" name="Line 3"/>
          <p:cNvSpPr>
            <a:spLocks noChangeShapeType="1"/>
          </p:cNvSpPr>
          <p:nvPr/>
        </p:nvSpPr>
        <p:spPr bwMode="auto">
          <a:xfrm>
            <a:off x="3030434" y="3061458"/>
            <a:ext cx="4155744" cy="6824"/>
          </a:xfrm>
          <a:prstGeom prst="line">
            <a:avLst/>
          </a:prstGeom>
          <a:noFill/>
          <a:ln w="22225">
            <a:solidFill>
              <a:schemeClr val="accent1"/>
            </a:solidFill>
            <a:prstDash val="sysDot"/>
            <a:round/>
            <a:tailEnd type="oval" w="med" len="med"/>
          </a:ln>
        </p:spPr>
        <p:txBody>
          <a:bodyPr wrap="none" anchor="ctr"/>
          <a:lstStyle/>
          <a:p>
            <a:endParaRPr lang="zh-CN" altLang="en-US"/>
          </a:p>
        </p:txBody>
      </p:sp>
      <p:grpSp>
        <p:nvGrpSpPr>
          <p:cNvPr id="46" name="Group 5"/>
          <p:cNvGrpSpPr/>
          <p:nvPr/>
        </p:nvGrpSpPr>
        <p:grpSpPr bwMode="auto">
          <a:xfrm>
            <a:off x="1911067" y="3433358"/>
            <a:ext cx="609600" cy="609600"/>
            <a:chOff x="1268" y="1296"/>
            <a:chExt cx="384" cy="384"/>
          </a:xfrm>
        </p:grpSpPr>
        <p:sp>
          <p:nvSpPr>
            <p:cNvPr id="47" name="Oval 6"/>
            <p:cNvSpPr>
              <a:spLocks noChangeArrowheads="1"/>
            </p:cNvSpPr>
            <p:nvPr/>
          </p:nvSpPr>
          <p:spPr bwMode="gray">
            <a:xfrm>
              <a:off x="1268" y="1296"/>
              <a:ext cx="384" cy="384"/>
            </a:xfrm>
            <a:prstGeom prst="ellipse">
              <a:avLst/>
            </a:prstGeom>
            <a:gradFill rotWithShape="1">
              <a:gsLst>
                <a:gs pos="0">
                  <a:srgbClr val="FFFFFF"/>
                </a:gs>
                <a:gs pos="50000">
                  <a:srgbClr val="00CC66"/>
                </a:gs>
                <a:gs pos="100000">
                  <a:srgbClr val="FFFFFF"/>
                </a:gs>
              </a:gsLst>
              <a:lin ang="2700000" scaled="1"/>
            </a:gradFill>
            <a:ln w="38100" algn="ctr">
              <a:noFill/>
              <a:round/>
            </a:ln>
          </p:spPr>
          <p:txBody>
            <a:bodyPr wrap="none"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48" name="Oval 7"/>
            <p:cNvSpPr>
              <a:spLocks noChangeArrowheads="1"/>
            </p:cNvSpPr>
            <p:nvPr/>
          </p:nvSpPr>
          <p:spPr bwMode="gray">
            <a:xfrm>
              <a:off x="1268" y="1296"/>
              <a:ext cx="384" cy="384"/>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49" name="Oval 8"/>
            <p:cNvSpPr>
              <a:spLocks noChangeArrowheads="1"/>
            </p:cNvSpPr>
            <p:nvPr/>
          </p:nvSpPr>
          <p:spPr bwMode="gray">
            <a:xfrm>
              <a:off x="1293" y="1321"/>
              <a:ext cx="334" cy="33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50" name="Oval 9"/>
            <p:cNvSpPr>
              <a:spLocks noChangeArrowheads="1"/>
            </p:cNvSpPr>
            <p:nvPr/>
          </p:nvSpPr>
          <p:spPr bwMode="gray">
            <a:xfrm>
              <a:off x="1293" y="1322"/>
              <a:ext cx="334" cy="33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51" name="Oval 10"/>
            <p:cNvSpPr>
              <a:spLocks noChangeArrowheads="1"/>
            </p:cNvSpPr>
            <p:nvPr/>
          </p:nvSpPr>
          <p:spPr bwMode="gray">
            <a:xfrm>
              <a:off x="1311" y="1338"/>
              <a:ext cx="300" cy="300"/>
            </a:xfrm>
            <a:prstGeom prst="ellipse">
              <a:avLst/>
            </a:prstGeom>
            <a:solidFill>
              <a:srgbClr val="333333"/>
            </a:solidFill>
            <a:ln w="38100" algn="ctr">
              <a:noFill/>
              <a:round/>
            </a:ln>
          </p:spPr>
          <p:txBody>
            <a:bodyPr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2" name="Oval 11"/>
            <p:cNvSpPr>
              <a:spLocks noChangeArrowheads="1"/>
            </p:cNvSpPr>
            <p:nvPr/>
          </p:nvSpPr>
          <p:spPr bwMode="gray">
            <a:xfrm>
              <a:off x="1316" y="1343"/>
              <a:ext cx="291" cy="291"/>
            </a:xfrm>
            <a:prstGeom prst="ellipse">
              <a:avLst/>
            </a:prstGeom>
            <a:gradFill rotWithShape="1">
              <a:gsLst>
                <a:gs pos="0">
                  <a:srgbClr val="595959"/>
                </a:gs>
                <a:gs pos="100000">
                  <a:srgbClr val="C0C0C0"/>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3" name="Oval 12"/>
            <p:cNvSpPr>
              <a:spLocks noChangeArrowheads="1"/>
            </p:cNvSpPr>
            <p:nvPr/>
          </p:nvSpPr>
          <p:spPr bwMode="gray">
            <a:xfrm>
              <a:off x="1320" y="1345"/>
              <a:ext cx="283" cy="283"/>
            </a:xfrm>
            <a:prstGeom prst="ellipse">
              <a:avLst/>
            </a:prstGeom>
            <a:gradFill rotWithShape="1">
              <a:gsLst>
                <a:gs pos="0">
                  <a:srgbClr val="C0C0C0">
                    <a:alpha val="0"/>
                  </a:srgbClr>
                </a:gs>
                <a:gs pos="100000">
                  <a:srgbClr val="E9E9E9"/>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4" name="Oval 13"/>
            <p:cNvSpPr>
              <a:spLocks noChangeArrowheads="1"/>
            </p:cNvSpPr>
            <p:nvPr/>
          </p:nvSpPr>
          <p:spPr bwMode="gray">
            <a:xfrm>
              <a:off x="1323" y="1347"/>
              <a:ext cx="270" cy="265"/>
            </a:xfrm>
            <a:prstGeom prst="ellipse">
              <a:avLst/>
            </a:prstGeom>
            <a:gradFill rotWithShape="1">
              <a:gsLst>
                <a:gs pos="0">
                  <a:srgbClr val="989898"/>
                </a:gs>
                <a:gs pos="100000">
                  <a:srgbClr val="C0C0C0">
                    <a:alpha val="48000"/>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5" name="Oval 14"/>
            <p:cNvSpPr>
              <a:spLocks noChangeArrowheads="1"/>
            </p:cNvSpPr>
            <p:nvPr/>
          </p:nvSpPr>
          <p:spPr bwMode="gray">
            <a:xfrm>
              <a:off x="1338" y="1355"/>
              <a:ext cx="240" cy="215"/>
            </a:xfrm>
            <a:prstGeom prst="ellipse">
              <a:avLst/>
            </a:prstGeom>
            <a:gradFill rotWithShape="1">
              <a:gsLst>
                <a:gs pos="0">
                  <a:srgbClr val="FFFFFF"/>
                </a:gs>
                <a:gs pos="100000">
                  <a:srgbClr val="C0C0C0">
                    <a:alpha val="37999"/>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6" name="Text Box 15"/>
            <p:cNvSpPr txBox="1">
              <a:spLocks noChangeArrowheads="1"/>
            </p:cNvSpPr>
            <p:nvPr/>
          </p:nvSpPr>
          <p:spPr bwMode="gray">
            <a:xfrm>
              <a:off x="1344" y="1373"/>
              <a:ext cx="223" cy="233"/>
            </a:xfrm>
            <a:prstGeom prst="rect">
              <a:avLst/>
            </a:prstGeom>
            <a:noFill/>
            <a:ln w="9525" algn="ctr">
              <a:noFill/>
              <a:miter lim="800000"/>
            </a:ln>
          </p:spPr>
          <p:txBody>
            <a:bodyPr wrap="square">
              <a:spAutoFit/>
            </a:bodyPr>
            <a:lstStyle/>
            <a:p>
              <a:pPr algn="ctr" eaLnBrk="0" hangingPunct="0">
                <a:spcBef>
                  <a:spcPct val="0"/>
                </a:spcBef>
                <a:buFontTx/>
                <a:buNone/>
              </a:pPr>
              <a:r>
                <a:rPr lang="en-US" altLang="zh-CN" dirty="0" smtClean="0">
                  <a:solidFill>
                    <a:srgbClr val="000000"/>
                  </a:solidFill>
                  <a:latin typeface="Arial" panose="020B0604020202020204" pitchFamily="34" charset="0"/>
                  <a:ea typeface="SimSun" panose="02010600030101010101" pitchFamily="2" charset="-122"/>
                </a:rPr>
                <a:t>3</a:t>
              </a:r>
              <a:endParaRPr lang="en-US" altLang="zh-CN" dirty="0">
                <a:solidFill>
                  <a:srgbClr val="000000"/>
                </a:solidFill>
                <a:latin typeface="Arial" panose="020B0604020202020204" pitchFamily="34" charset="0"/>
                <a:ea typeface="SimSun" panose="02010600030101010101" pitchFamily="2" charset="-122"/>
              </a:endParaRPr>
            </a:p>
          </p:txBody>
        </p:sp>
      </p:grpSp>
      <p:grpSp>
        <p:nvGrpSpPr>
          <p:cNvPr id="57" name="Group 5"/>
          <p:cNvGrpSpPr/>
          <p:nvPr/>
        </p:nvGrpSpPr>
        <p:grpSpPr bwMode="auto">
          <a:xfrm>
            <a:off x="1913340" y="4309091"/>
            <a:ext cx="609600" cy="609600"/>
            <a:chOff x="1268" y="1296"/>
            <a:chExt cx="384" cy="384"/>
          </a:xfrm>
        </p:grpSpPr>
        <p:sp>
          <p:nvSpPr>
            <p:cNvPr id="58" name="Oval 6"/>
            <p:cNvSpPr>
              <a:spLocks noChangeArrowheads="1"/>
            </p:cNvSpPr>
            <p:nvPr/>
          </p:nvSpPr>
          <p:spPr bwMode="gray">
            <a:xfrm>
              <a:off x="1268" y="1296"/>
              <a:ext cx="384" cy="384"/>
            </a:xfrm>
            <a:prstGeom prst="ellipse">
              <a:avLst/>
            </a:prstGeom>
            <a:gradFill rotWithShape="1">
              <a:gsLst>
                <a:gs pos="0">
                  <a:srgbClr val="FFFFFF"/>
                </a:gs>
                <a:gs pos="50000">
                  <a:srgbClr val="00CC66"/>
                </a:gs>
                <a:gs pos="100000">
                  <a:srgbClr val="FFFFFF"/>
                </a:gs>
              </a:gsLst>
              <a:lin ang="2700000" scaled="1"/>
            </a:gradFill>
            <a:ln w="38100" algn="ctr">
              <a:noFill/>
              <a:round/>
            </a:ln>
          </p:spPr>
          <p:txBody>
            <a:bodyPr wrap="none"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59" name="Oval 7"/>
            <p:cNvSpPr>
              <a:spLocks noChangeArrowheads="1"/>
            </p:cNvSpPr>
            <p:nvPr/>
          </p:nvSpPr>
          <p:spPr bwMode="gray">
            <a:xfrm>
              <a:off x="1268" y="1296"/>
              <a:ext cx="384" cy="384"/>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60" name="Oval 8"/>
            <p:cNvSpPr>
              <a:spLocks noChangeArrowheads="1"/>
            </p:cNvSpPr>
            <p:nvPr/>
          </p:nvSpPr>
          <p:spPr bwMode="gray">
            <a:xfrm>
              <a:off x="1293" y="1321"/>
              <a:ext cx="334" cy="33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61" name="Oval 9"/>
            <p:cNvSpPr>
              <a:spLocks noChangeArrowheads="1"/>
            </p:cNvSpPr>
            <p:nvPr/>
          </p:nvSpPr>
          <p:spPr bwMode="gray">
            <a:xfrm>
              <a:off x="1293" y="1322"/>
              <a:ext cx="334" cy="33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eaLnBrk="0" hangingPunct="0">
                <a:spcBef>
                  <a:spcPct val="0"/>
                </a:spcBef>
                <a:buFontTx/>
                <a:buNone/>
                <a:defRPr/>
              </a:pPr>
              <a:endParaRPr lang="zh-CN" altLang="en-US" sz="4000">
                <a:solidFill>
                  <a:srgbClr val="000000"/>
                </a:solidFill>
                <a:latin typeface="LiSu" panose="02010509060101010101" pitchFamily="49" charset="-122"/>
                <a:ea typeface="LiSu" panose="02010509060101010101" pitchFamily="49" charset="-122"/>
              </a:endParaRPr>
            </a:p>
          </p:txBody>
        </p:sp>
        <p:sp>
          <p:nvSpPr>
            <p:cNvPr id="62" name="Oval 10"/>
            <p:cNvSpPr>
              <a:spLocks noChangeArrowheads="1"/>
            </p:cNvSpPr>
            <p:nvPr/>
          </p:nvSpPr>
          <p:spPr bwMode="gray">
            <a:xfrm>
              <a:off x="1311" y="1338"/>
              <a:ext cx="300" cy="300"/>
            </a:xfrm>
            <a:prstGeom prst="ellipse">
              <a:avLst/>
            </a:prstGeom>
            <a:solidFill>
              <a:srgbClr val="333333"/>
            </a:solidFill>
            <a:ln w="38100" algn="ctr">
              <a:noFill/>
              <a:round/>
            </a:ln>
          </p:spPr>
          <p:txBody>
            <a:bodyPr anchor="ctr">
              <a:spAutoFit/>
            </a:bodyP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63" name="Oval 11"/>
            <p:cNvSpPr>
              <a:spLocks noChangeArrowheads="1"/>
            </p:cNvSpPr>
            <p:nvPr/>
          </p:nvSpPr>
          <p:spPr bwMode="gray">
            <a:xfrm>
              <a:off x="1316" y="1343"/>
              <a:ext cx="291" cy="291"/>
            </a:xfrm>
            <a:prstGeom prst="ellipse">
              <a:avLst/>
            </a:prstGeom>
            <a:gradFill rotWithShape="1">
              <a:gsLst>
                <a:gs pos="0">
                  <a:srgbClr val="595959"/>
                </a:gs>
                <a:gs pos="100000">
                  <a:srgbClr val="C0C0C0"/>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64" name="Oval 12"/>
            <p:cNvSpPr>
              <a:spLocks noChangeArrowheads="1"/>
            </p:cNvSpPr>
            <p:nvPr/>
          </p:nvSpPr>
          <p:spPr bwMode="gray">
            <a:xfrm>
              <a:off x="1320" y="1345"/>
              <a:ext cx="283" cy="283"/>
            </a:xfrm>
            <a:prstGeom prst="ellipse">
              <a:avLst/>
            </a:prstGeom>
            <a:gradFill rotWithShape="1">
              <a:gsLst>
                <a:gs pos="0">
                  <a:srgbClr val="C0C0C0">
                    <a:alpha val="0"/>
                  </a:srgbClr>
                </a:gs>
                <a:gs pos="100000">
                  <a:srgbClr val="E9E9E9"/>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65" name="Oval 13"/>
            <p:cNvSpPr>
              <a:spLocks noChangeArrowheads="1"/>
            </p:cNvSpPr>
            <p:nvPr/>
          </p:nvSpPr>
          <p:spPr bwMode="gray">
            <a:xfrm>
              <a:off x="1323" y="1347"/>
              <a:ext cx="270" cy="265"/>
            </a:xfrm>
            <a:prstGeom prst="ellipse">
              <a:avLst/>
            </a:prstGeom>
            <a:gradFill rotWithShape="1">
              <a:gsLst>
                <a:gs pos="0">
                  <a:srgbClr val="989898"/>
                </a:gs>
                <a:gs pos="100000">
                  <a:srgbClr val="C0C0C0">
                    <a:alpha val="48000"/>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66" name="Oval 14"/>
            <p:cNvSpPr>
              <a:spLocks noChangeArrowheads="1"/>
            </p:cNvSpPr>
            <p:nvPr/>
          </p:nvSpPr>
          <p:spPr bwMode="gray">
            <a:xfrm>
              <a:off x="1338" y="1355"/>
              <a:ext cx="240" cy="215"/>
            </a:xfrm>
            <a:prstGeom prst="ellipse">
              <a:avLst/>
            </a:prstGeom>
            <a:gradFill rotWithShape="1">
              <a:gsLst>
                <a:gs pos="0">
                  <a:srgbClr val="FFFFFF"/>
                </a:gs>
                <a:gs pos="100000">
                  <a:srgbClr val="C0C0C0">
                    <a:alpha val="37999"/>
                  </a:srgbClr>
                </a:gs>
              </a:gsLst>
              <a:lin ang="5400000" scaled="1"/>
            </a:gradFill>
            <a:ln w="9525" algn="ctr">
              <a:noFill/>
              <a:round/>
            </a:ln>
          </p:spPr>
          <p:txBody>
            <a:bodyPr vert="eaVert" wrap="none" anchor="ctr"/>
            <a:lstStyle/>
            <a:p>
              <a:pPr eaLnBrk="0" hangingPunct="0">
                <a:spcBef>
                  <a:spcPct val="0"/>
                </a:spcBef>
                <a:buFontTx/>
                <a:buNone/>
              </a:pPr>
              <a:endParaRPr lang="zh-CN" altLang="en-US" sz="4000">
                <a:solidFill>
                  <a:srgbClr val="000000"/>
                </a:solidFill>
                <a:latin typeface="LiSu" panose="02010509060101010101" pitchFamily="49" charset="-122"/>
                <a:ea typeface="LiSu" panose="02010509060101010101" pitchFamily="49" charset="-122"/>
              </a:endParaRPr>
            </a:p>
          </p:txBody>
        </p:sp>
        <p:sp>
          <p:nvSpPr>
            <p:cNvPr id="67" name="Text Box 15"/>
            <p:cNvSpPr txBox="1">
              <a:spLocks noChangeArrowheads="1"/>
            </p:cNvSpPr>
            <p:nvPr/>
          </p:nvSpPr>
          <p:spPr bwMode="gray">
            <a:xfrm>
              <a:off x="1344" y="1373"/>
              <a:ext cx="223" cy="233"/>
            </a:xfrm>
            <a:prstGeom prst="rect">
              <a:avLst/>
            </a:prstGeom>
            <a:noFill/>
            <a:ln w="9525" algn="ctr">
              <a:noFill/>
              <a:miter lim="800000"/>
            </a:ln>
          </p:spPr>
          <p:txBody>
            <a:bodyPr wrap="square">
              <a:spAutoFit/>
            </a:bodyPr>
            <a:lstStyle/>
            <a:p>
              <a:pPr algn="ctr" eaLnBrk="0" hangingPunct="0">
                <a:spcBef>
                  <a:spcPct val="0"/>
                </a:spcBef>
                <a:buFontTx/>
                <a:buNone/>
              </a:pPr>
              <a:r>
                <a:rPr lang="en-US" altLang="zh-CN" dirty="0" smtClean="0">
                  <a:solidFill>
                    <a:srgbClr val="000000"/>
                  </a:solidFill>
                  <a:latin typeface="Arial" panose="020B0604020202020204" pitchFamily="34" charset="0"/>
                  <a:ea typeface="SimSun" panose="02010600030101010101" pitchFamily="2" charset="-122"/>
                </a:rPr>
                <a:t>4</a:t>
              </a:r>
              <a:endParaRPr lang="en-US" altLang="zh-CN" dirty="0">
                <a:solidFill>
                  <a:srgbClr val="000000"/>
                </a:solidFill>
                <a:latin typeface="Arial" panose="020B0604020202020204" pitchFamily="34" charset="0"/>
                <a:ea typeface="SimSun" panose="02010600030101010101" pitchFamily="2" charset="-122"/>
              </a:endParaRPr>
            </a:p>
          </p:txBody>
        </p:sp>
      </p:grpSp>
      <p:sp>
        <p:nvSpPr>
          <p:cNvPr id="68" name="Line 3"/>
          <p:cNvSpPr>
            <a:spLocks noChangeShapeType="1"/>
          </p:cNvSpPr>
          <p:nvPr/>
        </p:nvSpPr>
        <p:spPr bwMode="auto">
          <a:xfrm>
            <a:off x="3030434" y="3991781"/>
            <a:ext cx="4155744" cy="6824"/>
          </a:xfrm>
          <a:prstGeom prst="line">
            <a:avLst/>
          </a:prstGeom>
          <a:noFill/>
          <a:ln w="22225">
            <a:solidFill>
              <a:schemeClr val="accent1"/>
            </a:solidFill>
            <a:prstDash val="sysDot"/>
            <a:round/>
            <a:tailEnd type="oval" w="med" len="med"/>
          </a:ln>
        </p:spPr>
        <p:txBody>
          <a:bodyPr wrap="none" anchor="ctr"/>
          <a:lstStyle/>
          <a:p>
            <a:endParaRPr lang="zh-CN" altLang="en-US"/>
          </a:p>
        </p:txBody>
      </p:sp>
      <p:sp>
        <p:nvSpPr>
          <p:cNvPr id="69" name="Line 3"/>
          <p:cNvSpPr>
            <a:spLocks noChangeShapeType="1"/>
          </p:cNvSpPr>
          <p:nvPr/>
        </p:nvSpPr>
        <p:spPr bwMode="auto">
          <a:xfrm>
            <a:off x="3030434" y="4922102"/>
            <a:ext cx="4155744" cy="6824"/>
          </a:xfrm>
          <a:prstGeom prst="line">
            <a:avLst/>
          </a:prstGeom>
          <a:noFill/>
          <a:ln w="22225">
            <a:solidFill>
              <a:schemeClr val="accent1"/>
            </a:solidFill>
            <a:prstDash val="sysDot"/>
            <a:round/>
            <a:tailEnd type="oval" w="med" len="med"/>
          </a:ln>
        </p:spPr>
        <p:txBody>
          <a:bodyPr wrap="none" anchor="ctr"/>
          <a:lstStyle/>
          <a:p>
            <a:endParaRPr lang="zh-CN" altLang="en-US"/>
          </a:p>
        </p:txBody>
      </p:sp>
      <p:grpSp>
        <p:nvGrpSpPr>
          <p:cNvPr id="2" name="组合 1"/>
          <p:cNvGrpSpPr/>
          <p:nvPr/>
        </p:nvGrpSpPr>
        <p:grpSpPr>
          <a:xfrm>
            <a:off x="3029585" y="2456180"/>
            <a:ext cx="6247130" cy="1412240"/>
            <a:chOff x="4829" y="3768"/>
            <a:chExt cx="7110" cy="2224"/>
          </a:xfrm>
        </p:grpSpPr>
        <p:sp>
          <p:nvSpPr>
            <p:cNvPr id="70" name="Text Box 4"/>
            <p:cNvSpPr txBox="1">
              <a:spLocks noChangeArrowheads="1"/>
            </p:cNvSpPr>
            <p:nvPr/>
          </p:nvSpPr>
          <p:spPr bwMode="auto">
            <a:xfrm>
              <a:off x="4829" y="3768"/>
              <a:ext cx="7110" cy="822"/>
            </a:xfrm>
            <a:prstGeom prst="rect">
              <a:avLst/>
            </a:prstGeom>
            <a:noFill/>
            <a:ln w="9525" algn="ctr">
              <a:noFill/>
              <a:miter lim="800000"/>
            </a:ln>
          </p:spPr>
          <p:txBody>
            <a:bodyPr wrap="square">
              <a:spAutoFit/>
            </a:bodyPr>
            <a:lstStyle>
              <a:defPPr>
                <a:defRPr lang="zh-CN"/>
              </a:defPPr>
              <a:lvl1pPr eaLnBrk="0" hangingPunct="0">
                <a:spcBef>
                  <a:spcPct val="0"/>
                </a:spcBef>
                <a:buFontTx/>
                <a:buNone/>
                <a:defRPr sz="2800">
                  <a:solidFill>
                    <a:schemeClr val="tx2"/>
                  </a:solidFill>
                  <a:latin typeface="Microsoft YaHei" panose="020B0503020204020204" charset="-122"/>
                  <a:ea typeface="Microsoft YaHei" panose="020B0503020204020204" charset="-122"/>
                </a:defRPr>
              </a:lvl1pPr>
            </a:lstStyle>
            <a:p>
              <a:pPr algn="l"/>
              <a:r>
                <a:rPr lang="en-US" altLang="zh-CN" dirty="0">
                  <a:latin typeface="Times New Roman" panose="02020603050405020304" charset="0"/>
                  <a:cs typeface="Times New Roman" panose="02020603050405020304" charset="0"/>
                </a:rPr>
                <a:t>iFlash </a:t>
              </a:r>
              <a:r>
                <a:rPr lang="en-US" altLang="zh-CN" dirty="0" err="1">
                  <a:latin typeface="Times New Roman" panose="02020603050405020304" charset="0"/>
                  <a:cs typeface="Times New Roman" panose="02020603050405020304" charset="0"/>
                </a:rPr>
                <a:t>LIS setting &amp; Introduction</a:t>
              </a:r>
              <a:r>
                <a:rPr lang="en-US" altLang="zh-CN" dirty="0" err="1"/>
                <a:t> </a:t>
              </a:r>
            </a:p>
          </p:txBody>
        </p:sp>
        <p:sp>
          <p:nvSpPr>
            <p:cNvPr id="71" name="Text Box 4"/>
            <p:cNvSpPr txBox="1">
              <a:spLocks noChangeArrowheads="1"/>
            </p:cNvSpPr>
            <p:nvPr/>
          </p:nvSpPr>
          <p:spPr bwMode="auto">
            <a:xfrm>
              <a:off x="4830" y="5170"/>
              <a:ext cx="4797" cy="822"/>
            </a:xfrm>
            <a:prstGeom prst="rect">
              <a:avLst/>
            </a:prstGeom>
            <a:noFill/>
            <a:ln w="9525" algn="ctr">
              <a:noFill/>
              <a:miter lim="800000"/>
            </a:ln>
          </p:spPr>
          <p:txBody>
            <a:bodyPr wrap="square">
              <a:spAutoFit/>
            </a:bodyPr>
            <a:lstStyle/>
            <a:p>
              <a:pPr algn="l" eaLnBrk="0" hangingPunct="0">
                <a:spcBef>
                  <a:spcPct val="0"/>
                </a:spcBef>
                <a:buFontTx/>
                <a:buNone/>
              </a:pPr>
              <a:r>
                <a:rPr lang="zh-CN" altLang="en-US" sz="2800" b="0" dirty="0" smtClean="0">
                  <a:solidFill>
                    <a:schemeClr val="tx2"/>
                  </a:solidFill>
                  <a:latin typeface="Times New Roman" panose="02020603050405020304" charset="0"/>
                  <a:ea typeface="Microsoft YaHei" panose="020B0503020204020204" charset="-122"/>
                  <a:cs typeface="Times New Roman" panose="02020603050405020304" charset="0"/>
                </a:rPr>
                <a:t>FAQ</a:t>
              </a:r>
              <a:endParaRPr lang="en-US" altLang="zh-CN" sz="2800" b="0" dirty="0">
                <a:solidFill>
                  <a:schemeClr val="tx1"/>
                </a:solidFill>
                <a:latin typeface="Times New Roman" panose="02020603050405020304" charset="0"/>
                <a:ea typeface="Microsoft YaHei" panose="020B0503020204020204" charset="-122"/>
                <a:cs typeface="Times New Roman" panose="02020603050405020304" charset="0"/>
              </a:endParaRPr>
            </a:p>
          </p:txBody>
        </p:sp>
      </p:grpSp>
      <p:sp>
        <p:nvSpPr>
          <p:cNvPr id="72" name="Text Box 4"/>
          <p:cNvSpPr txBox="1">
            <a:spLocks noChangeArrowheads="1"/>
          </p:cNvSpPr>
          <p:nvPr/>
        </p:nvSpPr>
        <p:spPr bwMode="auto">
          <a:xfrm>
            <a:off x="2998049" y="4386286"/>
            <a:ext cx="3046412" cy="798830"/>
          </a:xfrm>
          <a:prstGeom prst="rect">
            <a:avLst/>
          </a:prstGeom>
          <a:noFill/>
          <a:ln w="9525" algn="ctr">
            <a:noFill/>
            <a:miter lim="800000"/>
          </a:ln>
        </p:spPr>
        <p:txBody>
          <a:bodyPr wrap="square">
            <a:spAutoFit/>
          </a:bodyPr>
          <a:lstStyle/>
          <a:p>
            <a:pPr algn="l" eaLnBrk="0" hangingPunct="0">
              <a:spcBef>
                <a:spcPct val="0"/>
              </a:spcBef>
              <a:buFontTx/>
              <a:buNone/>
            </a:pPr>
            <a:r>
              <a:rPr lang="en-US" altLang="zh-CN" sz="2800" dirty="0" smtClean="0">
                <a:solidFill>
                  <a:schemeClr val="tx2"/>
                </a:solidFill>
                <a:latin typeface="Times New Roman" panose="02020603050405020304" charset="0"/>
                <a:ea typeface="Microsoft YaHei" panose="020B0503020204020204" charset="-122"/>
                <a:cs typeface="Times New Roman" panose="02020603050405020304" charset="0"/>
              </a:rPr>
              <a:t>Q&amp;A</a:t>
            </a:r>
            <a:endParaRPr lang="zh-CN" altLang="en-US" sz="2800" dirty="0">
              <a:solidFill>
                <a:schemeClr val="tx2"/>
              </a:solidFill>
              <a:latin typeface="Times New Roman" panose="02020603050405020304" charset="0"/>
              <a:ea typeface="Microsoft YaHei" panose="020B0503020204020204" charset="-122"/>
              <a:cs typeface="Times New Roman" panose="02020603050405020304" charset="0"/>
            </a:endParaRPr>
          </a:p>
          <a:p>
            <a:pPr algn="l" eaLnBrk="0" hangingPunct="0">
              <a:spcBef>
                <a:spcPct val="0"/>
              </a:spcBef>
              <a:buFontTx/>
              <a:buNone/>
            </a:pPr>
            <a:endParaRPr lang="en-US" altLang="zh-CN" b="0" dirty="0">
              <a:solidFill>
                <a:schemeClr val="tx1"/>
              </a:solidFill>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57" name="Text Box 4"/>
          <p:cNvSpPr txBox="1">
            <a:spLocks noChangeArrowheads="1"/>
          </p:cNvSpPr>
          <p:nvPr/>
        </p:nvSpPr>
        <p:spPr bwMode="auto">
          <a:xfrm>
            <a:off x="0" y="340995"/>
            <a:ext cx="4188460"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Introduction</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sp>
        <p:nvSpPr>
          <p:cNvPr id="6" name="Text Box 4"/>
          <p:cNvSpPr txBox="1">
            <a:spLocks noChangeArrowheads="1"/>
          </p:cNvSpPr>
          <p:nvPr/>
        </p:nvSpPr>
        <p:spPr bwMode="auto">
          <a:xfrm>
            <a:off x="1994848" y="2172268"/>
            <a:ext cx="3046412" cy="400110"/>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endParaRPr lang="en-US" altLang="zh-CN" b="0" dirty="0">
              <a:solidFill>
                <a:schemeClr val="tx1"/>
              </a:solidFill>
              <a:latin typeface="Arial" panose="020B0604020202020204" pitchFamily="34" charset="0"/>
              <a:ea typeface="SimSun" panose="02010600030101010101" pitchFamily="2" charset="-122"/>
            </a:endParaRPr>
          </a:p>
        </p:txBody>
      </p:sp>
      <p:sp>
        <p:nvSpPr>
          <p:cNvPr id="3" name="文本框 2"/>
          <p:cNvSpPr txBox="1"/>
          <p:nvPr/>
        </p:nvSpPr>
        <p:spPr>
          <a:xfrm>
            <a:off x="678815" y="1351915"/>
            <a:ext cx="7914005" cy="4154170"/>
          </a:xfrm>
          <a:prstGeom prst="rect">
            <a:avLst/>
          </a:prstGeom>
          <a:noFill/>
        </p:spPr>
        <p:txBody>
          <a:bodyPr wrap="square" rtlCol="0">
            <a:spAutoFit/>
          </a:bodyPr>
          <a:lstStyle/>
          <a:p>
            <a:r>
              <a:rPr sz="2400" dirty="0">
                <a:latin typeface="+mn-ea"/>
              </a:rPr>
              <a:t>The Laboratory Information System (LIS) is an Information System of the Laboratory (Laboratory Laboratory). Through a network of Laboratory instruments and computers, the Laboratory Information System enables patient samples to be logged on, experimental data to be accessed, reports to be reviewed, printed and distributed, and statistical analysis of experimental data to be performed in an intelligent, automated and standardized manner.It is helpful to improve the overall management level of the laboratory, reduce the loopholes and improve the inspection quality.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pic>
        <p:nvPicPr>
          <p:cNvPr id="4" name="图片 3"/>
          <p:cNvPicPr>
            <a:picLocks noChangeAspect="1"/>
          </p:cNvPicPr>
          <p:nvPr/>
        </p:nvPicPr>
        <p:blipFill>
          <a:blip r:embed="rId2"/>
          <a:stretch>
            <a:fillRect/>
          </a:stretch>
        </p:blipFill>
        <p:spPr>
          <a:xfrm>
            <a:off x="252095" y="998855"/>
            <a:ext cx="8640000" cy="486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50825" y="1261745"/>
            <a:ext cx="8642350" cy="4861560"/>
          </a:xfrm>
          <a:prstGeom prst="rect">
            <a:avLst/>
          </a:prstGeom>
        </p:spPr>
      </p:pic>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setting</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575310" y="824230"/>
          <a:ext cx="8137525" cy="5392420"/>
        </p:xfrm>
        <a:graphic>
          <a:graphicData uri="http://schemas.openxmlformats.org/drawingml/2006/table">
            <a:tbl>
              <a:tblPr firstRow="1" bandRow="1">
                <a:tableStyleId>{5C22544A-7EE6-4342-B048-85BDC9FD1C3A}</a:tableStyleId>
              </a:tblPr>
              <a:tblGrid>
                <a:gridCol w="2454910"/>
                <a:gridCol w="2840990"/>
                <a:gridCol w="2841625"/>
              </a:tblGrid>
              <a:tr h="341630">
                <a:tc gridSpan="3">
                  <a:txBody>
                    <a:bodyPr/>
                    <a:lstStyle/>
                    <a:p>
                      <a:pPr indent="0" algn="ctr">
                        <a:buNone/>
                      </a:pPr>
                      <a:r>
                        <a:rPr lang="en-US" sz="1600" b="1">
                          <a:solidFill>
                            <a:srgbClr val="000000"/>
                          </a:solidFill>
                          <a:latin typeface="Times New Roman" panose="02020603050405020304" charset="0"/>
                          <a:cs typeface="Times New Roman" panose="02020603050405020304" charset="0"/>
                        </a:rPr>
                        <a:t>iFlash LIS Setting</a:t>
                      </a:r>
                      <a:endParaRPr lang="en-US" altLang="en-US" sz="1600" b="1">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c hMerge="1">
                  <a:txBody>
                    <a:bodyPr/>
                    <a:lstStyle/>
                    <a:p>
                      <a:endParaRPr lang="en-US"/>
                    </a:p>
                  </a:txBody>
                  <a:tcP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xBody>
                    <a:bodyPr/>
                    <a:lstStyle/>
                    <a:p>
                      <a:endParaRPr lang="en-US"/>
                    </a:p>
                  </a:txBody>
                  <a:tcPr>
                    <a:lnR w="635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905">
                <a:tc>
                  <a:txBody>
                    <a:bodyPr/>
                    <a:lstStyle/>
                    <a:p>
                      <a:pPr indent="0" algn="ctr">
                        <a:buNone/>
                      </a:pPr>
                      <a:r>
                        <a:rPr lang="en-US" sz="1200" b="1">
                          <a:solidFill>
                            <a:srgbClr val="000000"/>
                          </a:solidFill>
                          <a:latin typeface="Times New Roman" panose="02020603050405020304" charset="0"/>
                          <a:cs typeface="Times New Roman" panose="02020603050405020304" charset="0"/>
                        </a:rPr>
                        <a:t>Communication through</a:t>
                      </a:r>
                      <a:endParaRPr lang="en-US" altLang="en-US" sz="1200" b="1">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70C0"/>
                    </a:solidFill>
                  </a:tcPr>
                </a:tc>
                <a:tc>
                  <a:txBody>
                    <a:bodyPr/>
                    <a:lstStyle/>
                    <a:p>
                      <a:pPr indent="0" algn="ctr">
                        <a:buNone/>
                      </a:pPr>
                      <a:r>
                        <a:rPr lang="en-US" sz="1200" b="1">
                          <a:solidFill>
                            <a:srgbClr val="000000"/>
                          </a:solidFill>
                          <a:latin typeface="Times New Roman" panose="02020603050405020304" charset="0"/>
                          <a:cs typeface="Times New Roman" panose="02020603050405020304" charset="0"/>
                        </a:rPr>
                        <a:t>TCP/IP or Serial</a:t>
                      </a:r>
                      <a:endParaRPr lang="en-US" altLang="en-US" sz="1200" b="1">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70C0"/>
                    </a:solidFill>
                  </a:tcPr>
                </a:tc>
                <a:tc>
                  <a:txBody>
                    <a:bodyPr/>
                    <a:lstStyle/>
                    <a:p>
                      <a:pPr indent="0" algn="ctr">
                        <a:buNone/>
                      </a:pPr>
                      <a:r>
                        <a:rPr lang="en-US" sz="1200" b="1">
                          <a:solidFill>
                            <a:srgbClr val="000000"/>
                          </a:solidFill>
                          <a:latin typeface="Times New Roman" panose="02020603050405020304" charset="0"/>
                          <a:cs typeface="Times New Roman" panose="02020603050405020304" charset="0"/>
                        </a:rPr>
                        <a:t>Serial Port</a:t>
                      </a:r>
                      <a:endParaRPr lang="en-US" altLang="en-US" sz="1200" b="1">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70C0"/>
                    </a:solidFill>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Code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ANSI or UTF-8</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6540">
                <a:tc>
                  <a:txBody>
                    <a:bodyPr/>
                    <a:lstStyle/>
                    <a:p>
                      <a:pPr indent="0" algn="ctr">
                        <a:buNone/>
                      </a:pPr>
                      <a:r>
                        <a:rPr lang="en-US" sz="1200" b="0">
                          <a:solidFill>
                            <a:srgbClr val="000000"/>
                          </a:solidFill>
                          <a:latin typeface="Times New Roman" panose="02020603050405020304" charset="0"/>
                          <a:cs typeface="Times New Roman" panose="02020603050405020304" charset="0"/>
                        </a:rPr>
                        <a:t>LIS Host IP</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Depends on customer site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5270">
                <a:tc>
                  <a:txBody>
                    <a:bodyPr/>
                    <a:lstStyle/>
                    <a:p>
                      <a:pPr indent="0" algn="ctr">
                        <a:buNone/>
                      </a:pPr>
                      <a:r>
                        <a:rPr lang="en-US" sz="1200" b="0">
                          <a:solidFill>
                            <a:srgbClr val="000000"/>
                          </a:solidFill>
                          <a:latin typeface="Times New Roman" panose="02020603050405020304" charset="0"/>
                          <a:cs typeface="Times New Roman" panose="02020603050405020304" charset="0"/>
                        </a:rPr>
                        <a:t>Port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Depends on customer site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Serial Port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By LIS engineer</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LIS Instrument No.</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Availiable in iFlash 3000 software, normally no need to change it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270">
                <a:tc>
                  <a:txBody>
                    <a:bodyPr/>
                    <a:lstStyle/>
                    <a:p>
                      <a:pPr indent="0" algn="ctr">
                        <a:buNone/>
                      </a:pPr>
                      <a:r>
                        <a:rPr lang="en-US" sz="1200" b="0">
                          <a:solidFill>
                            <a:srgbClr val="000000"/>
                          </a:solidFill>
                          <a:latin typeface="Times New Roman" panose="02020603050405020304" charset="0"/>
                          <a:cs typeface="Times New Roman" panose="02020603050405020304" charset="0"/>
                        </a:rPr>
                        <a:t>Data Bits</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default is 8</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Stop Bit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default is 1</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6540">
                <a:tc>
                  <a:txBody>
                    <a:bodyPr/>
                    <a:lstStyle/>
                    <a:p>
                      <a:pPr indent="0" algn="ctr">
                        <a:buNone/>
                      </a:pPr>
                      <a:r>
                        <a:rPr lang="en-US" sz="1200" b="0">
                          <a:solidFill>
                            <a:srgbClr val="000000"/>
                          </a:solidFill>
                          <a:latin typeface="Times New Roman" panose="02020603050405020304" charset="0"/>
                          <a:cs typeface="Times New Roman" panose="02020603050405020304" charset="0"/>
                        </a:rPr>
                        <a:t>Parity Bit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default is "None"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Protocal Type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ASTM or HL7, depend on customer</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270">
                <a:tc>
                  <a:txBody>
                    <a:bodyPr/>
                    <a:lstStyle/>
                    <a:p>
                      <a:pPr indent="0" algn="ctr">
                        <a:buNone/>
                      </a:pPr>
                      <a:r>
                        <a:rPr lang="en-US" sz="1200" b="0">
                          <a:solidFill>
                            <a:srgbClr val="000000"/>
                          </a:solidFill>
                          <a:latin typeface="Times New Roman" panose="02020603050405020304" charset="0"/>
                          <a:cs typeface="Times New Roman" panose="02020603050405020304" charset="0"/>
                        </a:rPr>
                        <a:t>Communication Mode</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One-way(Unidirection) or Two-way(Bidirection)</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Respond Timeout Limit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Default is "15s"</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445770">
                <a:tc>
                  <a:txBody>
                    <a:bodyPr/>
                    <a:lstStyle/>
                    <a:p>
                      <a:pPr indent="0" algn="ctr">
                        <a:buNone/>
                      </a:pPr>
                      <a:r>
                        <a:rPr lang="en-US" sz="1200" b="0">
                          <a:solidFill>
                            <a:srgbClr val="000000"/>
                          </a:solidFill>
                          <a:latin typeface="Times New Roman" panose="02020603050405020304" charset="0"/>
                          <a:cs typeface="Times New Roman" panose="02020603050405020304" charset="0"/>
                        </a:rPr>
                        <a:t>Interval</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The time interval between automatic reconnection in the disconnected state</a:t>
                      </a:r>
                    </a:p>
                    <a:p>
                      <a:pPr indent="0" algn="ctr">
                        <a:buNone/>
                      </a:pPr>
                      <a:r>
                        <a:rPr lang="en-US" sz="1200" b="0">
                          <a:solidFill>
                            <a:srgbClr val="000000"/>
                          </a:solidFill>
                          <a:latin typeface="Times New Roman" panose="02020603050405020304" charset="0"/>
                          <a:cs typeface="Times New Roman" panose="02020603050405020304" charset="0"/>
                        </a:rPr>
                        <a:t>.Default is "30s"</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270">
                <a:tc>
                  <a:txBody>
                    <a:bodyPr/>
                    <a:lstStyle/>
                    <a:p>
                      <a:pPr indent="0" algn="ctr">
                        <a:buNone/>
                      </a:pPr>
                      <a:r>
                        <a:rPr lang="en-US" sz="1200" b="0">
                          <a:solidFill>
                            <a:srgbClr val="000000"/>
                          </a:solidFill>
                          <a:latin typeface="Times New Roman" panose="02020603050405020304" charset="0"/>
                          <a:cs typeface="Times New Roman" panose="02020603050405020304" charset="0"/>
                        </a:rPr>
                        <a:t>Connect to LIS when start up</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normally checked.</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Auto Reconnecntion</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normally checked.</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6540">
                <a:tc>
                  <a:txBody>
                    <a:bodyPr/>
                    <a:lstStyle/>
                    <a:p>
                      <a:pPr indent="0" algn="ctr">
                        <a:buNone/>
                      </a:pPr>
                      <a:r>
                        <a:rPr lang="en-US" sz="1200" b="0">
                          <a:solidFill>
                            <a:srgbClr val="000000"/>
                          </a:solidFill>
                          <a:latin typeface="Times New Roman" panose="02020603050405020304" charset="0"/>
                          <a:cs typeface="Times New Roman" panose="02020603050405020304" charset="0"/>
                        </a:rPr>
                        <a:t>Real-time upload completed test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normally checked.</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Real-time imupload completed test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normally checked.</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270">
                <a:tc>
                  <a:txBody>
                    <a:bodyPr/>
                    <a:lstStyle/>
                    <a:p>
                      <a:pPr indent="0" algn="ctr">
                        <a:buNone/>
                      </a:pPr>
                      <a:r>
                        <a:rPr lang="en-US" sz="1200" b="0">
                          <a:solidFill>
                            <a:srgbClr val="000000"/>
                          </a:solidFill>
                          <a:latin typeface="Times New Roman" panose="02020603050405020304" charset="0"/>
                          <a:cs typeface="Times New Roman" panose="02020603050405020304" charset="0"/>
                        </a:rPr>
                        <a:t>Real-time imupload assay result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Set by LIS engineer, normally checked.</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55905">
                <a:tc>
                  <a:txBody>
                    <a:bodyPr/>
                    <a:lstStyle/>
                    <a:p>
                      <a:pPr indent="0" algn="ctr">
                        <a:buNone/>
                      </a:pPr>
                      <a:r>
                        <a:rPr lang="en-US" sz="1200" b="0">
                          <a:solidFill>
                            <a:srgbClr val="000000"/>
                          </a:solidFill>
                          <a:latin typeface="Times New Roman" panose="02020603050405020304" charset="0"/>
                          <a:cs typeface="Times New Roman" panose="02020603050405020304" charset="0"/>
                        </a:rPr>
                        <a:t>Assay &amp; Channel No.</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1270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p>
                      <a:pPr indent="0" algn="ctr">
                        <a:buNone/>
                      </a:pPr>
                      <a:r>
                        <a:rPr lang="en-US" sz="1200" b="0">
                          <a:solidFill>
                            <a:srgbClr val="000000"/>
                          </a:solidFill>
                          <a:latin typeface="Times New Roman" panose="02020603050405020304" charset="0"/>
                          <a:cs typeface="Times New Roman" panose="02020603050405020304" charset="0"/>
                        </a:rPr>
                        <a:t>Same as assay ID, normally no need to change it.</a:t>
                      </a:r>
                      <a:endParaRPr lang="en-US" altLang="en-US" sz="1200" b="0">
                        <a:solidFill>
                          <a:srgbClr val="000000"/>
                        </a:solidFill>
                        <a:latin typeface="Times New Roman" panose="02020603050405020304" charset="0"/>
                        <a:cs typeface="Times New Roman" panose="02020603050405020304" charset="0"/>
                      </a:endParaRPr>
                    </a:p>
                  </a:txBody>
                  <a:tcPr marL="12700" marR="12700" marT="12700" anchor="ct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xBody>
                    <a:bodyPr/>
                    <a:lstStyle/>
                    <a:p>
                      <a:endParaRPr lang="en-US"/>
                    </a:p>
                  </a:txBody>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bl>
          </a:graphicData>
        </a:graphic>
      </p:graphicFrame>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setting</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setting</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pic>
        <p:nvPicPr>
          <p:cNvPr id="3" name="图片 2"/>
          <p:cNvPicPr>
            <a:picLocks noChangeAspect="1"/>
          </p:cNvPicPr>
          <p:nvPr/>
        </p:nvPicPr>
        <p:blipFill>
          <a:blip r:embed="rId2"/>
          <a:stretch>
            <a:fillRect/>
          </a:stretch>
        </p:blipFill>
        <p:spPr>
          <a:xfrm>
            <a:off x="252095" y="1253490"/>
            <a:ext cx="8640000" cy="486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setting</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pic>
        <p:nvPicPr>
          <p:cNvPr id="2" name="图片 1"/>
          <p:cNvPicPr>
            <a:picLocks noChangeAspect="1"/>
          </p:cNvPicPr>
          <p:nvPr/>
        </p:nvPicPr>
        <p:blipFill>
          <a:blip r:embed="rId2"/>
          <a:stretch>
            <a:fillRect/>
          </a:stretch>
        </p:blipFill>
        <p:spPr>
          <a:xfrm>
            <a:off x="252095" y="1130935"/>
            <a:ext cx="8640000" cy="486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0" y="182245"/>
            <a:ext cx="9445625" cy="1322070"/>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apply </a:t>
            </a:r>
          </a:p>
          <a:p>
            <a:pPr eaLnBrk="0" hangingPunct="0">
              <a:spcBef>
                <a:spcPct val="0"/>
              </a:spcBef>
              <a:buFontTx/>
              <a:buNone/>
            </a:pPr>
            <a:r>
              <a:rPr lang="en-US" altLang="zh-CN" sz="2400" dirty="0" smtClean="0">
                <a:solidFill>
                  <a:srgbClr val="000000"/>
                </a:solidFill>
                <a:latin typeface="Microsoft YaHei" panose="020B0503020204020204" charset="-122"/>
                <a:ea typeface="Microsoft YaHei" panose="020B0503020204020204" charset="-122"/>
              </a:rPr>
              <a:t>(download test insformation from LIS server manual)</a:t>
            </a:r>
            <a:endParaRPr lang="zh-CN" altLang="en-US" sz="24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zh-CN" altLang="en-US" sz="2400" b="0" dirty="0">
              <a:solidFill>
                <a:schemeClr val="tx1"/>
              </a:solidFill>
              <a:latin typeface="Microsoft YaHei" panose="020B0503020204020204" charset="-122"/>
              <a:ea typeface="Microsoft YaHei" panose="020B0503020204020204" charset="-122"/>
            </a:endParaRPr>
          </a:p>
        </p:txBody>
      </p:sp>
      <p:pic>
        <p:nvPicPr>
          <p:cNvPr id="5" name="图片 4"/>
          <p:cNvPicPr>
            <a:picLocks noChangeAspect="1"/>
          </p:cNvPicPr>
          <p:nvPr/>
        </p:nvPicPr>
        <p:blipFill>
          <a:blip r:embed="rId2"/>
          <a:stretch>
            <a:fillRect/>
          </a:stretch>
        </p:blipFill>
        <p:spPr>
          <a:xfrm>
            <a:off x="252095" y="1257300"/>
            <a:ext cx="8640000" cy="486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66675" y="204470"/>
            <a:ext cx="9445625" cy="95313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 Result send to LIS</a:t>
            </a:r>
          </a:p>
          <a:p>
            <a:pPr eaLnBrk="0" hangingPunct="0">
              <a:spcBef>
                <a:spcPct val="0"/>
              </a:spcBef>
              <a:buFontTx/>
              <a:buNone/>
            </a:pPr>
            <a:endParaRPr lang="zh-CN" altLang="en-US" sz="2400" b="0" dirty="0">
              <a:solidFill>
                <a:schemeClr val="tx1"/>
              </a:solidFill>
              <a:latin typeface="Microsoft YaHei" panose="020B0503020204020204" charset="-122"/>
              <a:ea typeface="Microsoft YaHei" panose="020B0503020204020204" charset="-122"/>
            </a:endParaRPr>
          </a:p>
        </p:txBody>
      </p:sp>
      <p:pic>
        <p:nvPicPr>
          <p:cNvPr id="2" name="图片 1"/>
          <p:cNvPicPr>
            <a:picLocks noChangeAspect="1"/>
          </p:cNvPicPr>
          <p:nvPr/>
        </p:nvPicPr>
        <p:blipFill>
          <a:blip r:embed="rId2"/>
          <a:stretch>
            <a:fillRect/>
          </a:stretch>
        </p:blipFill>
        <p:spPr>
          <a:xfrm>
            <a:off x="650875" y="1032510"/>
            <a:ext cx="8010525" cy="52787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Text Box 4"/>
          <p:cNvSpPr txBox="1">
            <a:spLocks noChangeArrowheads="1"/>
          </p:cNvSpPr>
          <p:nvPr/>
        </p:nvSpPr>
        <p:spPr bwMode="auto">
          <a:xfrm>
            <a:off x="0" y="182245"/>
            <a:ext cx="4431665" cy="860425"/>
          </a:xfrm>
          <a:prstGeom prst="rect">
            <a:avLst/>
          </a:prstGeom>
          <a:noFill/>
          <a:ln w="9525" algn="ctr">
            <a:noFill/>
            <a:miter lim="800000"/>
          </a:ln>
        </p:spPr>
        <p:txBody>
          <a:bodyPr wrap="square">
            <a:spAutoFit/>
          </a:bodyPr>
          <a:lstStyle/>
          <a:p>
            <a:pPr eaLnBrk="0" hangingPunct="0">
              <a:spcBef>
                <a:spcPct val="0"/>
              </a:spcBef>
              <a:buFontTx/>
              <a:buNone/>
            </a:pPr>
            <a:r>
              <a:rPr lang="en-US" altLang="zh-CN" sz="2000" dirty="0">
                <a:solidFill>
                  <a:srgbClr val="000000"/>
                </a:solidFill>
                <a:latin typeface="LiSu" panose="02010509060101010101" pitchFamily="49" charset="-122"/>
                <a:ea typeface="LiSu" panose="02010509060101010101" pitchFamily="49" charset="-122"/>
              </a:rPr>
              <a:t> </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iFlash</a:t>
            </a:r>
            <a:r>
              <a:rPr lang="en-US" altLang="zh-CN" sz="2000" dirty="0" smtClean="0">
                <a:solidFill>
                  <a:srgbClr val="000000"/>
                </a:solidFill>
                <a:latin typeface="LiSu" panose="02010509060101010101" pitchFamily="49" charset="-122"/>
                <a:ea typeface="LiSu" panose="02010509060101010101" pitchFamily="49" charset="-122"/>
              </a:rPr>
              <a:t> </a:t>
            </a:r>
            <a:r>
              <a:rPr lang="en-US" altLang="zh-CN" sz="3200" dirty="0" smtClean="0">
                <a:solidFill>
                  <a:srgbClr val="000000"/>
                </a:solidFill>
                <a:latin typeface="Microsoft YaHei" panose="020B0503020204020204" charset="-122"/>
                <a:ea typeface="Microsoft YaHei" panose="020B0503020204020204" charset="-122"/>
              </a:rPr>
              <a:t>LIS log file</a:t>
            </a:r>
            <a:endParaRPr lang="zh-CN" altLang="en-US" sz="3200" dirty="0">
              <a:solidFill>
                <a:schemeClr val="tx1"/>
              </a:solidFill>
              <a:latin typeface="Microsoft YaHei" panose="020B0503020204020204" charset="-122"/>
              <a:ea typeface="Microsoft YaHei" panose="020B0503020204020204" charset="-122"/>
            </a:endParaRPr>
          </a:p>
          <a:p>
            <a:pPr eaLnBrk="0" hangingPunct="0">
              <a:spcBef>
                <a:spcPct val="0"/>
              </a:spcBef>
              <a:buFontTx/>
              <a:buNone/>
            </a:pPr>
            <a:endParaRPr lang="en-US" altLang="zh-CN" b="0" dirty="0">
              <a:solidFill>
                <a:schemeClr val="tx1"/>
              </a:solidFill>
              <a:latin typeface="Arial" panose="020B0604020202020204" pitchFamily="34" charset="0"/>
              <a:ea typeface="SimSun" panose="02010600030101010101" pitchFamily="2" charset="-122"/>
            </a:endParaRPr>
          </a:p>
        </p:txBody>
      </p:sp>
      <p:pic>
        <p:nvPicPr>
          <p:cNvPr id="3" name="图片 2"/>
          <p:cNvPicPr>
            <a:picLocks noChangeAspect="1"/>
          </p:cNvPicPr>
          <p:nvPr>
            <p:custDataLst>
              <p:tags r:id="rId1"/>
            </p:custDataLst>
          </p:nvPr>
        </p:nvPicPr>
        <p:blipFill>
          <a:blip r:embed="rId3"/>
          <a:stretch>
            <a:fillRect/>
          </a:stretch>
        </p:blipFill>
        <p:spPr>
          <a:xfrm>
            <a:off x="808990" y="1176020"/>
            <a:ext cx="4659630" cy="2488565"/>
          </a:xfrm>
          <a:prstGeom prst="rect">
            <a:avLst/>
          </a:prstGeom>
        </p:spPr>
      </p:pic>
      <p:pic>
        <p:nvPicPr>
          <p:cNvPr id="4" name="图片 3"/>
          <p:cNvPicPr>
            <a:picLocks noChangeAspect="1"/>
          </p:cNvPicPr>
          <p:nvPr/>
        </p:nvPicPr>
        <p:blipFill>
          <a:blip r:embed="rId4"/>
          <a:stretch>
            <a:fillRect/>
          </a:stretch>
        </p:blipFill>
        <p:spPr>
          <a:xfrm>
            <a:off x="3578225" y="3098800"/>
            <a:ext cx="5394325" cy="26625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Microsoft YaHei" panose="020B0503020204020204" charset="-122"/>
                <a:ea typeface="Microsoft YaHei" panose="020B0503020204020204" charset="-122"/>
              </a:rPr>
              <a:t>FAQ</a:t>
            </a:r>
            <a:endParaRPr lang="en-US" altLang="zh-CN" sz="3200" dirty="0">
              <a:solidFill>
                <a:schemeClr val="tx2"/>
              </a:solidFill>
              <a:latin typeface="Microsoft YaHei" panose="020B0503020204020204" charset="-122"/>
              <a:ea typeface="Microsoft YaHei" panose="020B0503020204020204" charset="-122"/>
            </a:endParaRPr>
          </a:p>
        </p:txBody>
      </p:sp>
      <p:sp>
        <p:nvSpPr>
          <p:cNvPr id="3" name="TextBox 2"/>
          <p:cNvSpPr txBox="1"/>
          <p:nvPr/>
        </p:nvSpPr>
        <p:spPr>
          <a:xfrm>
            <a:off x="2121563" y="1600981"/>
            <a:ext cx="5028565" cy="521970"/>
          </a:xfrm>
          <a:prstGeom prst="rect">
            <a:avLst/>
          </a:prstGeom>
          <a:noFill/>
        </p:spPr>
        <p:txBody>
          <a:bodyPr wrap="none" rtlCol="0">
            <a:spAutoFit/>
          </a:bodyPr>
          <a:lstStyle/>
          <a:p>
            <a:pPr algn="l"/>
            <a:r>
              <a:rPr lang="en-US" altLang="zh-CN" sz="2800" dirty="0" smtClean="0">
                <a:latin typeface="Times New Roman" panose="02020603050405020304" charset="0"/>
                <a:ea typeface="Microsoft YaHei" panose="020B0503020204020204" charset="-122"/>
                <a:cs typeface="Times New Roman" panose="02020603050405020304" charset="0"/>
              </a:rPr>
              <a:t>1. Can't connect  to the LIS server</a:t>
            </a:r>
          </a:p>
        </p:txBody>
      </p:sp>
      <p:sp>
        <p:nvSpPr>
          <p:cNvPr id="9" name="TextBox 8"/>
          <p:cNvSpPr txBox="1"/>
          <p:nvPr/>
        </p:nvSpPr>
        <p:spPr>
          <a:xfrm>
            <a:off x="795020" y="2745105"/>
            <a:ext cx="7681595" cy="2306955"/>
          </a:xfrm>
          <a:prstGeom prst="rect">
            <a:avLst/>
          </a:prstGeom>
          <a:noFill/>
        </p:spPr>
        <p:txBody>
          <a:bodyPr wrap="square" rtlCol="0">
            <a:spAutoFit/>
          </a:bodyPr>
          <a:lstStyle/>
          <a:p>
            <a:pPr marL="457200" indent="-457200" algn="l"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Check the communication mode, TCP/IP or “Serial port”</a:t>
            </a:r>
          </a:p>
          <a:p>
            <a:pPr marL="457200" indent="-457200" algn="l"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For TCP/IP mode, please check IP address, port.---Try to ping the IP address we set.</a:t>
            </a:r>
          </a:p>
          <a:p>
            <a:pPr marL="457200" indent="-457200" algn="l"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For serial port, please check the serial port etc.</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Microsoft YaHei" panose="020B0503020204020204" charset="-122"/>
                <a:ea typeface="Microsoft YaHei" panose="020B0503020204020204" charset="-122"/>
              </a:rPr>
              <a:t>FAQ</a:t>
            </a:r>
            <a:endParaRPr lang="en-US" altLang="zh-CN" sz="3200" dirty="0">
              <a:solidFill>
                <a:schemeClr val="tx2"/>
              </a:solidFill>
              <a:latin typeface="Microsoft YaHei" panose="020B0503020204020204" charset="-122"/>
              <a:ea typeface="Microsoft YaHei" panose="020B0503020204020204" charset="-122"/>
            </a:endParaRPr>
          </a:p>
        </p:txBody>
      </p:sp>
      <p:sp>
        <p:nvSpPr>
          <p:cNvPr id="8" name="TextBox 7"/>
          <p:cNvSpPr txBox="1"/>
          <p:nvPr/>
        </p:nvSpPr>
        <p:spPr>
          <a:xfrm>
            <a:off x="504723" y="1393461"/>
            <a:ext cx="8134350" cy="521970"/>
          </a:xfrm>
          <a:prstGeom prst="rect">
            <a:avLst/>
          </a:prstGeom>
          <a:noFill/>
        </p:spPr>
        <p:txBody>
          <a:bodyPr wrap="none" rtlCol="0">
            <a:spAutoFit/>
          </a:bodyPr>
          <a:lstStyle/>
          <a:p>
            <a:pPr algn="l"/>
            <a:r>
              <a:rPr lang="en-US" altLang="zh-CN" sz="2800" dirty="0" smtClean="0">
                <a:latin typeface="Times New Roman" panose="02020603050405020304" charset="0"/>
                <a:ea typeface="Microsoft YaHei" panose="020B0503020204020204" charset="-122"/>
                <a:cs typeface="Times New Roman" panose="02020603050405020304" charset="0"/>
              </a:rPr>
              <a:t>2. Unable to download test information from LIS server</a:t>
            </a:r>
          </a:p>
        </p:txBody>
      </p:sp>
      <p:sp>
        <p:nvSpPr>
          <p:cNvPr id="10" name="TextBox 9"/>
          <p:cNvSpPr txBox="1"/>
          <p:nvPr/>
        </p:nvSpPr>
        <p:spPr>
          <a:xfrm>
            <a:off x="722685" y="2300515"/>
            <a:ext cx="7699592" cy="3415030"/>
          </a:xfrm>
          <a:prstGeom prst="rect">
            <a:avLst/>
          </a:prstGeom>
          <a:noFill/>
        </p:spPr>
        <p:txBody>
          <a:bodyPr wrap="square" rtlCol="0">
            <a:spAutoFit/>
          </a:bodyPr>
          <a:lstStyle/>
          <a:p>
            <a:pPr marL="457200" indent="-457200">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Serial port is not paired---Check the serial port</a:t>
            </a:r>
          </a:p>
          <a:p>
            <a:pPr marL="457200" indent="-457200">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Channel No. is incorrect--- Check the channel No.</a:t>
            </a:r>
          </a:p>
          <a:p>
            <a:pPr marL="457200" indent="-457200">
              <a:buFont typeface="+mj-lt"/>
              <a:buAutoNum type="alphaLcPeriod"/>
            </a:pPr>
            <a:r>
              <a:rPr lang="zh-CN" altLang="en-US" sz="2400" dirty="0" smtClean="0">
                <a:latin typeface="Times New Roman" panose="02020603050405020304" charset="0"/>
                <a:ea typeface="Microsoft YaHei" panose="020B0503020204020204" charset="-122"/>
                <a:cs typeface="Times New Roman" panose="02020603050405020304" charset="0"/>
              </a:rPr>
              <a:t>LIS </a:t>
            </a:r>
            <a:r>
              <a:rPr lang="en-US" altLang="zh-CN" sz="2400" dirty="0" smtClean="0">
                <a:latin typeface="Times New Roman" panose="02020603050405020304" charset="0"/>
                <a:ea typeface="Microsoft YaHei" panose="020B0503020204020204" charset="-122"/>
                <a:cs typeface="Times New Roman" panose="02020603050405020304" charset="0"/>
              </a:rPr>
              <a:t>server</a:t>
            </a:r>
            <a:r>
              <a:rPr lang="zh-CN" altLang="en-US" sz="2400" dirty="0" smtClean="0">
                <a:latin typeface="Times New Roman" panose="02020603050405020304" charset="0"/>
                <a:ea typeface="Microsoft YaHei" panose="020B0503020204020204" charset="-122"/>
                <a:cs typeface="Times New Roman" panose="02020603050405020304" charset="0"/>
              </a:rPr>
              <a:t> did not respond to inquiries in accordance with the </a:t>
            </a:r>
            <a:r>
              <a:rPr lang="en-US" altLang="zh-CN" sz="2400" dirty="0" smtClean="0">
                <a:latin typeface="Times New Roman" panose="02020603050405020304" charset="0"/>
                <a:ea typeface="Microsoft YaHei" panose="020B0503020204020204" charset="-122"/>
                <a:cs typeface="Times New Roman" panose="02020603050405020304" charset="0"/>
              </a:rPr>
              <a:t>protocol.</a:t>
            </a:r>
          </a:p>
          <a:p>
            <a:pPr marL="457200" indent="-457200">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There is a conflict in the test information downloaded from the LIS server.</a:t>
            </a:r>
          </a:p>
          <a:p>
            <a:pPr marL="457200" indent="-457200">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The LIS server has no corresponding test items---Check LIS server</a:t>
            </a:r>
          </a:p>
          <a:p>
            <a:pPr marL="457200" indent="-457200">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Sample barocde is incorrect---Check the barcode</a:t>
            </a:r>
            <a:endParaRPr lang="en-US" altLang="zh-CN" sz="2400" dirty="0" smtClean="0">
              <a:latin typeface="Microsoft YaHei" panose="020B0503020204020204" charset="-122"/>
              <a:ea typeface="Microsoft YaHei" panose="020B050302020402020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Times New Roman" panose="02020603050405020304" charset="0"/>
                <a:ea typeface="Microsoft YaHei" panose="020B0503020204020204" charset="-122"/>
                <a:cs typeface="Times New Roman" panose="02020603050405020304" charset="0"/>
              </a:rPr>
              <a:t>FAQ</a:t>
            </a:r>
          </a:p>
        </p:txBody>
      </p:sp>
      <p:sp>
        <p:nvSpPr>
          <p:cNvPr id="7" name="TextBox 6"/>
          <p:cNvSpPr txBox="1"/>
          <p:nvPr/>
        </p:nvSpPr>
        <p:spPr>
          <a:xfrm>
            <a:off x="880110" y="1485900"/>
            <a:ext cx="7512050" cy="521970"/>
          </a:xfrm>
          <a:prstGeom prst="rect">
            <a:avLst/>
          </a:prstGeom>
          <a:noFill/>
        </p:spPr>
        <p:txBody>
          <a:bodyPr wrap="square" rtlCol="0">
            <a:spAutoFit/>
          </a:bodyPr>
          <a:lstStyle/>
          <a:p>
            <a:pPr algn="l"/>
            <a:r>
              <a:rPr lang="en-US" altLang="zh-CN" sz="2800" dirty="0" smtClean="0">
                <a:latin typeface="Times New Roman" panose="02020603050405020304" charset="0"/>
                <a:ea typeface="Microsoft YaHei" panose="020B0503020204020204" charset="-122"/>
                <a:cs typeface="Times New Roman" panose="02020603050405020304" charset="0"/>
              </a:rPr>
              <a:t>3. The result uploaded to the LIS server is incorrect</a:t>
            </a:r>
          </a:p>
        </p:txBody>
      </p:sp>
      <p:sp>
        <p:nvSpPr>
          <p:cNvPr id="8" name="TextBox 7"/>
          <p:cNvSpPr txBox="1"/>
          <p:nvPr/>
        </p:nvSpPr>
        <p:spPr>
          <a:xfrm>
            <a:off x="795020" y="2493645"/>
            <a:ext cx="7680960" cy="3415030"/>
          </a:xfrm>
          <a:prstGeom prst="rect">
            <a:avLst/>
          </a:prstGeom>
          <a:noFill/>
        </p:spPr>
        <p:txBody>
          <a:bodyPr wrap="square" rtlCol="0">
            <a:spAutoFit/>
          </a:bodyPr>
          <a:lstStyle/>
          <a:p>
            <a:pPr marL="457200" indent="-457200"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LIS server mistakenly accepts the sample ID as the sample barcode or the sample barcode as the sample ID to receive the result---Ask LIS engineer to fix it.</a:t>
            </a:r>
          </a:p>
          <a:p>
            <a:pPr marL="457200" indent="-457200"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The instrument and the LIS server are fake connections (LIS icon is blue but not connected )---manually disconnect and reconnect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Times New Roman" panose="02020603050405020304" charset="0"/>
                <a:ea typeface="Microsoft YaHei" panose="020B0503020204020204" charset="-122"/>
                <a:cs typeface="Times New Roman" panose="02020603050405020304" charset="0"/>
              </a:rPr>
              <a:t>FAQ</a:t>
            </a:r>
          </a:p>
        </p:txBody>
      </p:sp>
      <p:sp>
        <p:nvSpPr>
          <p:cNvPr id="8" name="TextBox 7"/>
          <p:cNvSpPr txBox="1"/>
          <p:nvPr/>
        </p:nvSpPr>
        <p:spPr>
          <a:xfrm>
            <a:off x="989385" y="2460260"/>
            <a:ext cx="7293192" cy="2861310"/>
          </a:xfrm>
          <a:prstGeom prst="rect">
            <a:avLst/>
          </a:prstGeom>
          <a:noFill/>
        </p:spPr>
        <p:txBody>
          <a:bodyPr wrap="square" rtlCol="0">
            <a:spAutoFit/>
          </a:bodyPr>
          <a:lstStyle/>
          <a:p>
            <a:pPr marL="457200" indent="-457200"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Confirm communication through TCP / IP because the serial port does not support automatic reconnection.</a:t>
            </a:r>
          </a:p>
          <a:p>
            <a:pPr marL="457200" indent="-457200"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Confirm whether the LIS server program has been exited or not opened.</a:t>
            </a:r>
          </a:p>
          <a:p>
            <a:pPr marL="457200" indent="-457200" fontAlgn="auto">
              <a:lnSpc>
                <a:spcPct val="150000"/>
              </a:lnSpc>
              <a:buFont typeface="+mj-lt"/>
              <a:buAutoNum type="alphaLcPeriod"/>
            </a:pPr>
            <a:r>
              <a:rPr lang="en-US" altLang="zh-CN" sz="2400" dirty="0" smtClean="0">
                <a:latin typeface="Times New Roman" panose="02020603050405020304" charset="0"/>
                <a:ea typeface="Microsoft YaHei" panose="020B0503020204020204" charset="-122"/>
                <a:cs typeface="Times New Roman" panose="02020603050405020304" charset="0"/>
              </a:rPr>
              <a:t>Check if the connection is normal. (FAQ 1)</a:t>
            </a:r>
          </a:p>
        </p:txBody>
      </p:sp>
      <p:sp>
        <p:nvSpPr>
          <p:cNvPr id="2" name="TextBox 6"/>
          <p:cNvSpPr txBox="1"/>
          <p:nvPr/>
        </p:nvSpPr>
        <p:spPr>
          <a:xfrm>
            <a:off x="600608" y="1188866"/>
            <a:ext cx="8117840" cy="521970"/>
          </a:xfrm>
          <a:prstGeom prst="rect">
            <a:avLst/>
          </a:prstGeom>
          <a:noFill/>
        </p:spPr>
        <p:txBody>
          <a:bodyPr wrap="none" rtlCol="0">
            <a:spAutoFit/>
          </a:bodyPr>
          <a:lstStyle/>
          <a:p>
            <a:pPr algn="l"/>
            <a:r>
              <a:rPr lang="en-US" altLang="zh-CN" sz="2800" dirty="0" smtClean="0">
                <a:latin typeface="Times New Roman" panose="02020603050405020304" charset="0"/>
                <a:ea typeface="Microsoft YaHei" panose="020B0503020204020204" charset="-122"/>
                <a:cs typeface="Times New Roman" panose="02020603050405020304" charset="0"/>
              </a:rPr>
              <a:t>4. Does not automatically reconnect after disconnecting</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3" cstate="print"/>
          <a:stretch>
            <a:fillRect/>
          </a:stretch>
        </p:blipFill>
        <p:spPr>
          <a:xfrm>
            <a:off x="600710" y="6405880"/>
            <a:ext cx="8070215" cy="165100"/>
          </a:xfrm>
          <a:prstGeom prst="rect">
            <a:avLst/>
          </a:prstGeom>
        </p:spPr>
      </p:pic>
      <p:pic>
        <p:nvPicPr>
          <p:cNvPr id="5" name="图片 4" descr="未标题-3"/>
          <p:cNvPicPr>
            <a:picLocks noChangeAspect="1"/>
          </p:cNvPicPr>
          <p:nvPr/>
        </p:nvPicPr>
        <p:blipFill>
          <a:blip r:embed="rId4"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Times New Roman" panose="02020603050405020304" charset="0"/>
                <a:ea typeface="Microsoft YaHei" panose="020B0503020204020204" charset="-122"/>
                <a:cs typeface="Times New Roman" panose="02020603050405020304" charset="0"/>
              </a:rPr>
              <a:t>FAQ - Example</a:t>
            </a:r>
            <a:endParaRPr lang="zh-CN" altLang="en-US" sz="3200" dirty="0">
              <a:solidFill>
                <a:schemeClr val="tx2"/>
              </a:solidFill>
              <a:latin typeface="Times New Roman" panose="02020603050405020304" charset="0"/>
              <a:ea typeface="Microsoft YaHei" panose="020B0503020204020204" charset="-122"/>
              <a:cs typeface="Times New Roman" panose="02020603050405020304" charset="0"/>
            </a:endParaRPr>
          </a:p>
        </p:txBody>
      </p:sp>
      <p:sp>
        <p:nvSpPr>
          <p:cNvPr id="8" name="TextBox 7"/>
          <p:cNvSpPr txBox="1"/>
          <p:nvPr/>
        </p:nvSpPr>
        <p:spPr>
          <a:xfrm>
            <a:off x="600710" y="1033709"/>
            <a:ext cx="3921125" cy="398780"/>
          </a:xfrm>
          <a:prstGeom prst="rect">
            <a:avLst/>
          </a:prstGeom>
          <a:noFill/>
        </p:spPr>
        <p:txBody>
          <a:bodyPr wrap="none" rtlCol="0">
            <a:spAutoFit/>
          </a:bodyPr>
          <a:lstStyle/>
          <a:p>
            <a:r>
              <a:rPr lang="en-US" altLang="zh-CN" sz="2000" dirty="0" smtClean="0">
                <a:latin typeface="Times New Roman" panose="02020603050405020304" charset="0"/>
                <a:ea typeface="Microsoft YaHei" panose="020B0503020204020204" charset="-122"/>
                <a:cs typeface="Times New Roman" panose="02020603050405020304" charset="0"/>
              </a:rPr>
              <a:t>1. Error 0-4, communication timeout</a:t>
            </a:r>
            <a:r>
              <a:rPr lang="en-US" altLang="zh-CN" sz="2000" dirty="0" smtClean="0">
                <a:latin typeface="Microsoft YaHei" panose="020B0503020204020204" charset="-122"/>
                <a:ea typeface="Microsoft YaHei" panose="020B0503020204020204" charset="-122"/>
              </a:rPr>
              <a:t> </a:t>
            </a:r>
            <a:endParaRPr lang="zh-CN" altLang="en-US" sz="2000" dirty="0">
              <a:latin typeface="Microsoft YaHei" panose="020B0503020204020204" charset="-122"/>
              <a:ea typeface="Microsoft YaHei" panose="020B0503020204020204" charset="-122"/>
            </a:endParaRPr>
          </a:p>
        </p:txBody>
      </p:sp>
      <p:pic>
        <p:nvPicPr>
          <p:cNvPr id="7" name="图片 6"/>
          <p:cNvPicPr/>
          <p:nvPr/>
        </p:nvPicPr>
        <p:blipFill>
          <a:blip r:embed="rId5"/>
          <a:stretch>
            <a:fillRect/>
          </a:stretch>
        </p:blipFill>
        <p:spPr>
          <a:xfrm>
            <a:off x="692995" y="1432629"/>
            <a:ext cx="8168711" cy="859085"/>
          </a:xfrm>
          <a:prstGeom prst="rect">
            <a:avLst/>
          </a:prstGeom>
        </p:spPr>
      </p:pic>
      <p:sp>
        <p:nvSpPr>
          <p:cNvPr id="9" name="TextBox 8"/>
          <p:cNvSpPr txBox="1"/>
          <p:nvPr/>
        </p:nvSpPr>
        <p:spPr>
          <a:xfrm>
            <a:off x="630554" y="2291503"/>
            <a:ext cx="8040370" cy="398780"/>
          </a:xfrm>
          <a:prstGeom prst="rect">
            <a:avLst/>
          </a:prstGeom>
          <a:noFill/>
        </p:spPr>
        <p:txBody>
          <a:bodyPr wrap="none" rtlCol="0">
            <a:spAutoFit/>
          </a:bodyPr>
          <a:lstStyle/>
          <a:p>
            <a:r>
              <a:rPr lang="en-US" altLang="zh-CN" sz="2000" dirty="0" smtClean="0"/>
              <a:t>a. The messagge reply from LIS server is incomplete, no DSR or ACK message</a:t>
            </a:r>
            <a:endParaRPr lang="zh-CN" altLang="en-US" sz="2000" dirty="0">
              <a:latin typeface="Microsoft YaHei" panose="020B0503020204020204" charset="-122"/>
              <a:ea typeface="Microsoft YaHei" panose="020B0503020204020204" charset="-122"/>
            </a:endParaRPr>
          </a:p>
        </p:txBody>
      </p:sp>
      <p:pic>
        <p:nvPicPr>
          <p:cNvPr id="10" name="图片 9"/>
          <p:cNvPicPr/>
          <p:nvPr/>
        </p:nvPicPr>
        <p:blipFill>
          <a:blip r:embed="rId6"/>
          <a:stretch>
            <a:fillRect/>
          </a:stretch>
        </p:blipFill>
        <p:spPr>
          <a:xfrm>
            <a:off x="661670" y="2690495"/>
            <a:ext cx="7978140" cy="1343660"/>
          </a:xfrm>
          <a:prstGeom prst="rect">
            <a:avLst/>
          </a:prstGeom>
        </p:spPr>
      </p:pic>
      <p:sp>
        <p:nvSpPr>
          <p:cNvPr id="2" name="TextBox 8"/>
          <p:cNvSpPr txBox="1"/>
          <p:nvPr/>
        </p:nvSpPr>
        <p:spPr>
          <a:xfrm>
            <a:off x="630695" y="4143869"/>
            <a:ext cx="4193540" cy="398780"/>
          </a:xfrm>
          <a:prstGeom prst="rect">
            <a:avLst/>
          </a:prstGeom>
          <a:noFill/>
        </p:spPr>
        <p:txBody>
          <a:bodyPr wrap="none" rtlCol="0">
            <a:spAutoFit/>
          </a:bodyPr>
          <a:lstStyle/>
          <a:p>
            <a:pPr algn="l"/>
            <a:r>
              <a:rPr lang="en-US" sz="2000" dirty="0">
                <a:latin typeface="Times New Roman" panose="02020603050405020304" charset="0"/>
                <a:ea typeface="Microsoft YaHei" panose="020B0503020204020204" charset="-122"/>
                <a:cs typeface="Times New Roman" panose="02020603050405020304" charset="0"/>
              </a:rPr>
              <a:t>b. The message ID does not correspond</a:t>
            </a:r>
            <a:r>
              <a:rPr lang="en-US" sz="2000" dirty="0">
                <a:latin typeface="Microsoft YaHei" panose="020B0503020204020204" charset="-122"/>
                <a:ea typeface="Microsoft YaHei" panose="020B0503020204020204" charset="-122"/>
              </a:rPr>
              <a:t> </a:t>
            </a:r>
          </a:p>
        </p:txBody>
      </p:sp>
      <p:pic>
        <p:nvPicPr>
          <p:cNvPr id="11" name="图片 10"/>
          <p:cNvPicPr/>
          <p:nvPr/>
        </p:nvPicPr>
        <p:blipFill>
          <a:blip r:embed="rId7"/>
          <a:stretch>
            <a:fillRect/>
          </a:stretch>
        </p:blipFill>
        <p:spPr>
          <a:xfrm>
            <a:off x="692785" y="4542790"/>
            <a:ext cx="6923405" cy="1760220"/>
          </a:xfrm>
          <a:prstGeom prst="rect">
            <a:avLst/>
          </a:prstGeom>
        </p:spPr>
      </p:pic>
      <p:sp>
        <p:nvSpPr>
          <p:cNvPr id="3" name="矩形 2"/>
          <p:cNvSpPr/>
          <p:nvPr/>
        </p:nvSpPr>
        <p:spPr>
          <a:xfrm>
            <a:off x="5068570" y="5193665"/>
            <a:ext cx="1753235" cy="2343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21970"/>
          </a:xfrm>
          <a:prstGeom prst="rect">
            <a:avLst/>
          </a:prstGeom>
          <a:noFill/>
          <a:ln w="9525" algn="ctr">
            <a:noFill/>
            <a:miter lim="800000"/>
          </a:ln>
        </p:spPr>
        <p:txBody>
          <a:bodyPr wrap="square">
            <a:spAutoFit/>
          </a:bodyPr>
          <a:lstStyle/>
          <a:p>
            <a:pPr eaLnBrk="0" hangingPunct="0">
              <a:spcBef>
                <a:spcPct val="0"/>
              </a:spcBef>
            </a:pPr>
            <a:r>
              <a:rPr lang="en-US" altLang="zh-CN" sz="2800" dirty="0">
                <a:solidFill>
                  <a:schemeClr val="tx2"/>
                </a:solidFill>
                <a:latin typeface="Times New Roman" panose="02020603050405020304" charset="0"/>
                <a:ea typeface="Microsoft YaHei" panose="020B0503020204020204" charset="-122"/>
                <a:cs typeface="Times New Roman" panose="02020603050405020304" charset="0"/>
              </a:rPr>
              <a:t>FAQ- Example</a:t>
            </a:r>
          </a:p>
        </p:txBody>
      </p:sp>
      <p:sp>
        <p:nvSpPr>
          <p:cNvPr id="9" name="TextBox 8"/>
          <p:cNvSpPr txBox="1"/>
          <p:nvPr/>
        </p:nvSpPr>
        <p:spPr>
          <a:xfrm>
            <a:off x="462738" y="972044"/>
            <a:ext cx="5876925" cy="460375"/>
          </a:xfrm>
          <a:prstGeom prst="rect">
            <a:avLst/>
          </a:prstGeom>
          <a:noFill/>
        </p:spPr>
        <p:txBody>
          <a:bodyPr wrap="none" rtlCol="0">
            <a:spAutoFit/>
          </a:bodyPr>
          <a:lstStyle/>
          <a:p>
            <a:r>
              <a:rPr lang="en-US" altLang="zh-CN" sz="2400" dirty="0">
                <a:latin typeface="Microsoft YaHei" panose="020B0503020204020204" charset="-122"/>
                <a:ea typeface="Microsoft YaHei" panose="020B0503020204020204" charset="-122"/>
              </a:rPr>
              <a:t>Error 3-11 Number of flieds is incorrect</a:t>
            </a:r>
          </a:p>
        </p:txBody>
      </p:sp>
      <p:pic>
        <p:nvPicPr>
          <p:cNvPr id="7" name="图片 6"/>
          <p:cNvPicPr/>
          <p:nvPr/>
        </p:nvPicPr>
        <p:blipFill>
          <a:blip r:embed="rId4"/>
          <a:stretch>
            <a:fillRect/>
          </a:stretch>
        </p:blipFill>
        <p:spPr>
          <a:xfrm>
            <a:off x="835378" y="1692154"/>
            <a:ext cx="8026400" cy="262020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293511" y="450375"/>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a:solidFill>
                  <a:schemeClr val="tx2"/>
                </a:solidFill>
                <a:latin typeface="Microsoft YaHei" panose="020B0503020204020204" charset="-122"/>
                <a:ea typeface="Microsoft YaHei" panose="020B0503020204020204" charset="-122"/>
              </a:rPr>
              <a:t>FAQ - Example</a:t>
            </a:r>
          </a:p>
        </p:txBody>
      </p:sp>
      <p:sp>
        <p:nvSpPr>
          <p:cNvPr id="9" name="TextBox 8"/>
          <p:cNvSpPr txBox="1"/>
          <p:nvPr/>
        </p:nvSpPr>
        <p:spPr>
          <a:xfrm>
            <a:off x="585293" y="1230489"/>
            <a:ext cx="7045325" cy="460375"/>
          </a:xfrm>
          <a:prstGeom prst="rect">
            <a:avLst/>
          </a:prstGeom>
          <a:noFill/>
        </p:spPr>
        <p:txBody>
          <a:bodyPr wrap="none" rtlCol="0">
            <a:spAutoFit/>
          </a:bodyPr>
          <a:lstStyle/>
          <a:p>
            <a:r>
              <a:rPr lang="en-US" altLang="zh-CN" sz="2400" dirty="0">
                <a:latin typeface="Microsoft YaHei" panose="020B0503020204020204" charset="-122"/>
                <a:ea typeface="Microsoft YaHei" panose="020B0503020204020204" charset="-122"/>
              </a:rPr>
              <a:t>Does not set the test parameter or channel No.</a:t>
            </a:r>
          </a:p>
        </p:txBody>
      </p:sp>
      <p:pic>
        <p:nvPicPr>
          <p:cNvPr id="8" name="图片 7"/>
          <p:cNvPicPr/>
          <p:nvPr/>
        </p:nvPicPr>
        <p:blipFill>
          <a:blip r:embed="rId4"/>
          <a:stretch>
            <a:fillRect/>
          </a:stretch>
        </p:blipFill>
        <p:spPr>
          <a:xfrm>
            <a:off x="767644" y="1692154"/>
            <a:ext cx="7992534" cy="2359781"/>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亚辉龙YHLO应用部分"/>
          <p:cNvPicPr>
            <a:picLocks noChangeAspect="1"/>
          </p:cNvPicPr>
          <p:nvPr/>
        </p:nvPicPr>
        <p:blipFill>
          <a:blip r:embed="rId2" cstate="print"/>
          <a:stretch>
            <a:fillRect/>
          </a:stretch>
        </p:blipFill>
        <p:spPr>
          <a:xfrm>
            <a:off x="600710" y="6395085"/>
            <a:ext cx="8070215" cy="165100"/>
          </a:xfrm>
          <a:prstGeom prst="rect">
            <a:avLst/>
          </a:prstGeom>
        </p:spPr>
      </p:pic>
      <p:pic>
        <p:nvPicPr>
          <p:cNvPr id="5" name="图片 4" descr="未标题-3"/>
          <p:cNvPicPr>
            <a:picLocks noChangeAspect="1"/>
          </p:cNvPicPr>
          <p:nvPr/>
        </p:nvPicPr>
        <p:blipFill>
          <a:blip r:embed="rId3" cstate="print"/>
          <a:stretch>
            <a:fillRect/>
          </a:stretch>
        </p:blipFill>
        <p:spPr>
          <a:xfrm>
            <a:off x="-1270" y="186690"/>
            <a:ext cx="9146540" cy="145415"/>
          </a:xfrm>
          <a:prstGeom prst="rect">
            <a:avLst/>
          </a:prstGeom>
        </p:spPr>
      </p:pic>
      <p:sp>
        <p:nvSpPr>
          <p:cNvPr id="6" name="Text Box 4"/>
          <p:cNvSpPr txBox="1">
            <a:spLocks noChangeArrowheads="1"/>
          </p:cNvSpPr>
          <p:nvPr/>
        </p:nvSpPr>
        <p:spPr bwMode="auto">
          <a:xfrm>
            <a:off x="459246" y="474030"/>
            <a:ext cx="6784622" cy="583565"/>
          </a:xfrm>
          <a:prstGeom prst="rect">
            <a:avLst/>
          </a:prstGeom>
          <a:noFill/>
          <a:ln w="9525" algn="ctr">
            <a:noFill/>
            <a:miter lim="800000"/>
          </a:ln>
        </p:spPr>
        <p:txBody>
          <a:bodyPr wrap="square">
            <a:spAutoFit/>
          </a:bodyPr>
          <a:lstStyle/>
          <a:p>
            <a:pPr eaLnBrk="0" hangingPunct="0">
              <a:spcBef>
                <a:spcPct val="0"/>
              </a:spcBef>
            </a:pPr>
            <a:r>
              <a:rPr lang="en-US" altLang="zh-CN" sz="3200" dirty="0" smtClean="0">
                <a:solidFill>
                  <a:schemeClr val="tx2"/>
                </a:solidFill>
                <a:latin typeface="Microsoft YaHei" panose="020B0503020204020204" charset="-122"/>
                <a:ea typeface="Microsoft YaHei" panose="020B0503020204020204" charset="-122"/>
              </a:rPr>
              <a:t>Q &amp; A</a:t>
            </a:r>
            <a:endParaRPr lang="en-US" altLang="zh-CN" sz="3200" dirty="0">
              <a:solidFill>
                <a:schemeClr val="tx2"/>
              </a:solidFill>
              <a:latin typeface="Microsoft YaHei" panose="020B0503020204020204" charset="-122"/>
              <a:ea typeface="Microsoft YaHei" panose="020B0503020204020204" charset="-122"/>
            </a:endParaRPr>
          </a:p>
        </p:txBody>
      </p:sp>
      <p:sp>
        <p:nvSpPr>
          <p:cNvPr id="2" name="矩形 1"/>
          <p:cNvSpPr/>
          <p:nvPr/>
        </p:nvSpPr>
        <p:spPr>
          <a:xfrm>
            <a:off x="3093720" y="2586335"/>
            <a:ext cx="2421385" cy="1569660"/>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zh-CN" altLang="en-US" sz="96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a:t>
            </a:r>
            <a:endParaRPr lang="zh-CN" altLang="en-US" sz="96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2" name="文本框 1"/>
          <p:cNvSpPr txBox="1"/>
          <p:nvPr/>
        </p:nvSpPr>
        <p:spPr>
          <a:xfrm>
            <a:off x="3706668" y="2811145"/>
            <a:ext cx="2262159" cy="1077218"/>
          </a:xfrm>
          <a:prstGeom prst="rect">
            <a:avLst/>
          </a:prstGeom>
          <a:noFill/>
        </p:spPr>
        <p:txBody>
          <a:bodyPr wrap="none" rtlCol="0">
            <a:spAutoFit/>
          </a:bodyPr>
          <a:lstStyle/>
          <a:p>
            <a:pPr algn="ctr"/>
            <a:r>
              <a:rPr lang="en-US" altLang="zh-CN" sz="4400" dirty="0">
                <a:solidFill>
                  <a:schemeClr val="bg1"/>
                </a:solidFill>
                <a:latin typeface="Microsoft YaHei" panose="020B0503020204020204" charset="-122"/>
                <a:ea typeface="Microsoft YaHei" panose="020B0503020204020204" charset="-122"/>
              </a:rPr>
              <a:t>Thanks!</a:t>
            </a:r>
          </a:p>
          <a:p>
            <a:pPr algn="ctr"/>
            <a:endParaRPr lang="en-US" altLang="zh-CN" sz="2000" dirty="0">
              <a:solidFill>
                <a:schemeClr val="bg1"/>
              </a:solidFill>
              <a:latin typeface="Microsoft YaHei" panose="020B0503020204020204" charset="-122"/>
              <a:ea typeface="Microsoft YaHei"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f22e23cc-5cf9-4006-90ac-5c8af3c675ab}"/>
</p:tagLst>
</file>

<file path=ppt/tags/tag2.xml><?xml version="1.0" encoding="utf-8"?>
<p:tagLst xmlns:a="http://schemas.openxmlformats.org/drawingml/2006/main" xmlns:r="http://schemas.openxmlformats.org/officeDocument/2006/relationships" xmlns:p="http://schemas.openxmlformats.org/presentationml/2006/main">
  <p:tag name="REFSHAPE" val="391601588"/>
  <p:tag name="KSO_WM_UNIT_PLACING_PICTURE_USER_VIEWPORT" val="{&quot;height&quot;:5865,&quot;width&quot;:1098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666</Words>
  <Application>WPS 演示</Application>
  <PresentationFormat>On-screen Show (4:3)</PresentationFormat>
  <Paragraphs>101</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主题</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lastModifiedBy>user</cp:lastModifiedBy>
  <cp:revision>90</cp:revision>
  <dcterms:created xsi:type="dcterms:W3CDTF">2016-09-30T09:39:00Z</dcterms:created>
  <dcterms:modified xsi:type="dcterms:W3CDTF">2022-05-10T03:08:42Z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